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Transferências</c:v>
                </c:pt>
              </c:strCache>
            </c:strRef>
          </c:tx>
          <c:spPr>
            <a:solidFill>
              <a:srgbClr val="4E7F84"/>
            </a:solidFill>
            <a:ln>
              <a:noFill/>
            </a:ln>
          </c:spPr>
          <c:cat>
            <c:strRef>
              <c:f>Sheet1!$A$2:$A$21</c:f>
              <c:strCache>
                <c:ptCount val="20"/>
                <c:pt idx="0">
                  <c:v>01/09</c:v>
                </c:pt>
                <c:pt idx="1">
                  <c:v>02/09</c:v>
                </c:pt>
                <c:pt idx="2">
                  <c:v>03/09</c:v>
                </c:pt>
                <c:pt idx="3">
                  <c:v>04/09</c:v>
                </c:pt>
                <c:pt idx="4">
                  <c:v>08/09</c:v>
                </c:pt>
                <c:pt idx="5">
                  <c:v>09/09</c:v>
                </c:pt>
                <c:pt idx="6">
                  <c:v>10/09</c:v>
                </c:pt>
                <c:pt idx="7">
                  <c:v>11/09</c:v>
                </c:pt>
                <c:pt idx="8">
                  <c:v>14/09</c:v>
                </c:pt>
                <c:pt idx="9">
                  <c:v>15/09</c:v>
                </c:pt>
                <c:pt idx="10">
                  <c:v>16/09</c:v>
                </c:pt>
                <c:pt idx="11">
                  <c:v>17/09</c:v>
                </c:pt>
                <c:pt idx="12">
                  <c:v>18/09</c:v>
                </c:pt>
                <c:pt idx="13">
                  <c:v>21/09</c:v>
                </c:pt>
                <c:pt idx="14">
                  <c:v>22/09</c:v>
                </c:pt>
                <c:pt idx="15">
                  <c:v>23/09</c:v>
                </c:pt>
                <c:pt idx="16">
                  <c:v>24/09</c:v>
                </c:pt>
                <c:pt idx="17">
                  <c:v>25/09</c:v>
                </c:pt>
                <c:pt idx="18">
                  <c:v>28/09</c:v>
                </c:pt>
                <c:pt idx="19">
                  <c:v>30/09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17</c:v>
                </c:pt>
                <c:pt idx="1">
                  <c:v>13</c:v>
                </c:pt>
                <c:pt idx="2">
                  <c:v>9</c:v>
                </c:pt>
                <c:pt idx="3">
                  <c:v>54</c:v>
                </c:pt>
                <c:pt idx="4">
                  <c:v>25</c:v>
                </c:pt>
                <c:pt idx="5">
                  <c:v>2</c:v>
                </c:pt>
                <c:pt idx="6">
                  <c:v>2</c:v>
                </c:pt>
                <c:pt idx="7">
                  <c:v>63</c:v>
                </c:pt>
                <c:pt idx="8">
                  <c:v>20</c:v>
                </c:pt>
                <c:pt idx="9">
                  <c:v>7</c:v>
                </c:pt>
                <c:pt idx="10">
                  <c:v>14</c:v>
                </c:pt>
                <c:pt idx="11">
                  <c:v>40</c:v>
                </c:pt>
                <c:pt idx="12">
                  <c:v>29</c:v>
                </c:pt>
                <c:pt idx="13">
                  <c:v>35</c:v>
                </c:pt>
                <c:pt idx="14">
                  <c:v>3</c:v>
                </c:pt>
                <c:pt idx="15">
                  <c:v>6</c:v>
                </c:pt>
                <c:pt idx="16">
                  <c:v>24</c:v>
                </c:pt>
                <c:pt idx="17">
                  <c:v>1</c:v>
                </c:pt>
                <c:pt idx="18">
                  <c:v>9</c:v>
                </c:pt>
                <c:pt idx="19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Quebras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cat>
            <c:strRef>
              <c:f>Sheet1!$A$2:$A$21</c:f>
              <c:strCache>
                <c:ptCount val="20"/>
                <c:pt idx="0">
                  <c:v>01/09</c:v>
                </c:pt>
                <c:pt idx="1">
                  <c:v>02/09</c:v>
                </c:pt>
                <c:pt idx="2">
                  <c:v>03/09</c:v>
                </c:pt>
                <c:pt idx="3">
                  <c:v>04/09</c:v>
                </c:pt>
                <c:pt idx="4">
                  <c:v>08/09</c:v>
                </c:pt>
                <c:pt idx="5">
                  <c:v>09/09</c:v>
                </c:pt>
                <c:pt idx="6">
                  <c:v>10/09</c:v>
                </c:pt>
                <c:pt idx="7">
                  <c:v>11/09</c:v>
                </c:pt>
                <c:pt idx="8">
                  <c:v>14/09</c:v>
                </c:pt>
                <c:pt idx="9">
                  <c:v>15/09</c:v>
                </c:pt>
                <c:pt idx="10">
                  <c:v>16/09</c:v>
                </c:pt>
                <c:pt idx="11">
                  <c:v>17/09</c:v>
                </c:pt>
                <c:pt idx="12">
                  <c:v>18/09</c:v>
                </c:pt>
                <c:pt idx="13">
                  <c:v>21/09</c:v>
                </c:pt>
                <c:pt idx="14">
                  <c:v>22/09</c:v>
                </c:pt>
                <c:pt idx="15">
                  <c:v>23/09</c:v>
                </c:pt>
                <c:pt idx="16">
                  <c:v>24/09</c:v>
                </c:pt>
                <c:pt idx="17">
                  <c:v>25/09</c:v>
                </c:pt>
                <c:pt idx="18">
                  <c:v>28/09</c:v>
                </c:pt>
                <c:pt idx="19">
                  <c:v>30/09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  <c:pt idx="12">
                  <c:v>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5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4A4A4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ln w="19050">
              <a:solidFill>
                <a:srgbClr val="FFFFFF"/>
              </a:solidFill>
            </a:ln>
          </c:spPr>
          <c:dPt>
            <c:idx val="0"/>
            <c:spPr>
              <a:solidFill>
                <a:srgbClr val="4E7F84"/>
              </a:solidFill>
            </c:spPr>
          </c:dPt>
          <c:dPt>
            <c:idx val="1"/>
            <c:spPr>
              <a:solidFill>
                <a:srgbClr val="34436C"/>
              </a:solidFill>
            </c:spPr>
          </c:dPt>
          <c:dPt>
            <c:idx val="2"/>
            <c:spPr>
              <a:solidFill>
                <a:srgbClr val="B1BFE2"/>
              </a:solidFill>
            </c:spPr>
          </c:dPt>
          <c:dPt>
            <c:idx val="3"/>
            <c:spPr>
              <a:solidFill>
                <a:srgbClr val="F2C14E"/>
              </a:solidFill>
            </c:spPr>
          </c:dPt>
          <c:cat>
            <c:strRef>
              <c:f>Sheet1!$A$2:$A$5</c:f>
              <c:strCache>
                <c:ptCount val="4"/>
                <c:pt idx="0">
                  <c:v>Loja SP</c:v>
                </c:pt>
                <c:pt idx="1">
                  <c:v>Processo</c:v>
                </c:pt>
                <c:pt idx="2">
                  <c:v>Qualidade</c:v>
                </c:pt>
                <c:pt idx="3">
                  <c:v>PDV ATIVACAO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207</c:v>
                </c:pt>
                <c:pt idx="1">
                  <c:v>118</c:v>
                </c:pt>
                <c:pt idx="2">
                  <c:v>34</c:v>
                </c:pt>
                <c:pt idx="3">
                  <c:v>31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800">
              <a:solidFill>
                <a:srgbClr val="4A4A4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ln w="19050">
              <a:solidFill>
                <a:srgbClr val="FFFFFF"/>
              </a:solidFill>
            </a:ln>
          </c:spPr>
          <c:dPt>
            <c:idx val="0"/>
            <c:spPr>
              <a:solidFill>
                <a:srgbClr val="4FC3F7"/>
              </a:solidFill>
            </c:spPr>
          </c:dPt>
          <c:dPt>
            <c:idx val="1"/>
            <c:spPr>
              <a:solidFill>
                <a:srgbClr val="81C784"/>
              </a:solidFill>
            </c:spPr>
          </c:dPt>
          <c:dPt>
            <c:idx val="2"/>
            <c:spPr>
              <a:solidFill>
                <a:srgbClr val="BA68C8"/>
              </a:solidFill>
            </c:spPr>
          </c:dPt>
          <c:dPt>
            <c:idx val="3"/>
            <c:spPr>
              <a:solidFill>
                <a:srgbClr val="FFB74D"/>
              </a:solidFill>
            </c:spPr>
          </c:dPt>
          <c:dPt>
            <c:idx val="4"/>
            <c:spPr>
              <a:solidFill>
                <a:srgbClr val="F06292"/>
              </a:solidFill>
            </c:spPr>
          </c:dPt>
          <c:dPt>
            <c:idx val="5"/>
            <c:spPr>
              <a:solidFill>
                <a:srgbClr val="90A4AE"/>
              </a:solidFill>
            </c:spPr>
          </c:dPt>
          <c:cat>
            <c:strRef>
              <c:f>Sheet1!$A$2:$A$7</c:f>
              <c:strCache>
                <c:ptCount val="6"/>
                <c:pt idx="0">
                  <c:v>Produto Acabado</c:v>
                </c:pt>
                <c:pt idx="1">
                  <c:v>Embalagem</c:v>
                </c:pt>
                <c:pt idx="2">
                  <c:v>Materia Prima</c:v>
                </c:pt>
                <c:pt idx="3">
                  <c:v>Mercadoria de Revenda</c:v>
                </c:pt>
                <c:pt idx="4">
                  <c:v>Produto em Processo</c:v>
                </c:pt>
                <c:pt idx="5">
                  <c:v>Outros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181</c:v>
                </c:pt>
                <c:pt idx="1">
                  <c:v>97</c:v>
                </c:pt>
                <c:pt idx="2">
                  <c:v>64</c:v>
                </c:pt>
                <c:pt idx="3">
                  <c:v>24</c:v>
                </c:pt>
                <c:pt idx="4">
                  <c:v>18</c:v>
                </c:pt>
                <c:pt idx="5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5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>
              <a:solidFill>
                <a:srgbClr val="4A4A4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Quebras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05004015 - MAGIO Língua de Onça ao</c:v>
                </c:pt>
                <c:pt idx="1">
                  <c:v>05004017 - Língua de Onça Leit Pra</c:v>
                </c:pt>
                <c:pt idx="2">
                  <c:v>05004014 - MAGIO Língua de Onça In</c:v>
                </c:pt>
                <c:pt idx="3">
                  <c:v>0050303003 - Nibs de Cacau - Sakag</c:v>
                </c:pt>
                <c:pt idx="4">
                  <c:v>0190213105 - Sacolas de papel tama</c:v>
                </c:pt>
                <c:pt idx="5">
                  <c:v>05104016 - Bombom SF Leite Ganache</c:v>
                </c:pt>
                <c:pt idx="6">
                  <c:v>9990111058 - Tapereba Liofilizado</c:v>
                </c:pt>
                <c:pt idx="7">
                  <c:v>05004016 - MAGIO Lg de Onça Lt Pra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4A4A4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4E8"/>
            </a:solidFill>
          </a:ln>
        </c:spPr>
        <c:txPr>
          <a:bodyPr/>
          <a:lstStyle/>
          <a:p>
            <a:pPr>
              <a:defRPr sz="1000">
                <a:solidFill>
                  <a:srgbClr val="4A4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4E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Controle de FEFO — transferências auditadas, quebras e top produtos (fonte oficial do indicador)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JUL-SET/2026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390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TRANSFERÊNCIAS AUDITADAS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390 transferência(s) no período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815" y="141732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119" y="174650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QUEBRAS DE FEFO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3119" y="189280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14 produto(s) distinto(s) afetado(s)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141732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F9A825"/>
                </a:solidFill>
                <a:latin typeface="Arial"/>
              </a:defRPr>
            </a:pPr>
            <a:r>
              <a:t>5,4%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174650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TAXA DE QUEBRA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735" y="189280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F9A825"/>
                </a:solidFill>
                <a:latin typeface="Arial"/>
              </a:defRPr>
            </a:pPr>
            <a:r>
              <a:t>Atenção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1417320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359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1746504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OK / INCONCLUSIVO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1892807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10 sem validade (lote não encontrado)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67128"/>
            <a:ext cx="112772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4436C"/>
                </a:solidFill>
                <a:latin typeface="Arial"/>
              </a:defRPr>
            </a:pPr>
            <a:r>
              <a:t>TRANSFERÊNCIAS E QUEBRAS POR DIA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57200" y="2404872"/>
          <a:ext cx="11277295" cy="191109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4443984"/>
            <a:ext cx="292142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34436C"/>
                </a:solidFill>
                <a:latin typeface="Arial"/>
              </a:defRPr>
            </a:pPr>
            <a:r>
              <a:t>TRANSFERÊNCIAS POR DESTINO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4663440"/>
          <a:ext cx="2921425" cy="184708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07225" y="4443984"/>
            <a:ext cx="292142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34436C"/>
                </a:solidFill>
                <a:latin typeface="Arial"/>
              </a:defRPr>
            </a:pPr>
            <a:r>
              <a:t>TRANSFERÊNCIAS POR GRUPO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3607225" y="4663440"/>
          <a:ext cx="2921425" cy="184708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757251" y="4443984"/>
            <a:ext cx="497724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34436C"/>
                </a:solidFill>
                <a:latin typeface="Arial"/>
              </a:defRPr>
            </a:pPr>
            <a:r>
              <a:t>TOP PRODUTOS COM MAIS QUEBRAS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757251" y="4663440"/>
          <a:ext cx="4977243" cy="184708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57200" y="6583680"/>
            <a:ext cx="112772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850" b="0" i="0">
                <a:solidFill>
                  <a:srgbClr val="4A4A4A"/>
                </a:solidFill>
                <a:latin typeface="Arial"/>
              </a:defRPr>
            </a:pPr>
            <a:r>
              <a:t>Fonte: dashboard de Controle de FEFO (Auditoria &gt; Outros Dashboards), enviado em 06/10/2026 16:47.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