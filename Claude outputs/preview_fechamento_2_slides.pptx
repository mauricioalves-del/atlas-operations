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34436C"/>
                </a:solidFill>
                <a:latin typeface="Arial"/>
              </a:defRPr>
            </a:pPr>
            <a:r>
              <a:t>Fechamento Stock Savvy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Panorama do período — fechamento mensal exportado pelo Stock Savvy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767535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AÇÕES CRIADAS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6815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3119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335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3119" y="1767535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CONCLUÍDAS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2735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2735" y="1767535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EM ABERTO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6047" y="1417320"/>
            <a:ext cx="2668447" cy="5943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2351" y="1490472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98,46%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2351" y="1767535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ADERÊNCIA FEFO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67712"/>
            <a:ext cx="11277295" cy="1019982"/>
          </a:xfrm>
          <a:prstGeom prst="roundRect">
            <a:avLst>
              <a:gd name="adj" fmla="val 10000"/>
            </a:avLst>
          </a:prstGeom>
          <a:solidFill>
            <a:srgbClr val="E4E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377440"/>
            <a:ext cx="109115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F9A825"/>
                </a:solidFill>
                <a:latin typeface="Arial"/>
              </a:defRPr>
            </a:pPr>
            <a:r>
              <a:t>PONTO DE ATENÇÃO DO MÊS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615184"/>
            <a:ext cx="10911535" cy="5810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defRPr sz="1200" b="0" i="0">
                <a:solidFill>
                  <a:srgbClr val="4A4A4A"/>
                </a:solidFill>
                <a:latin typeface="Arial"/>
              </a:defRPr>
            </a:pPr>
            <a:r>
              <a:t>Dispersão de Lote (identificadas) concentra o maior risco em aberto do período: 20 ações criadas, apenas 0 concluídas (20 em aberto) e R$ 10.617,43 associados.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62014"/>
            <a:ext cx="112772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 i="0">
                <a:solidFill>
                  <a:srgbClr val="34436C"/>
                </a:solidFill>
                <a:latin typeface="Arial"/>
              </a:defRPr>
            </a:pPr>
            <a:r>
              <a:t>RESULTADO FINANCEIRO — SHELF LIFE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54622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392777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C62828"/>
                </a:solidFill>
                <a:latin typeface="Arial"/>
              </a:defRPr>
            </a:pPr>
            <a:r>
              <a:t>R$ 2.474,96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4183806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CUSTO ESTIMADO DE PERDA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4330110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Valor em risco nas ações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26815" y="3854622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3119" y="392777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R$ 2.498,79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3119" y="4183806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VALOR RECUPERADO 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3119" y="4330110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Receita + perda evitada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6431" y="3854622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2735" y="392777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2E7D32"/>
                </a:solidFill>
                <a:latin typeface="Arial"/>
              </a:defRPr>
            </a:pPr>
            <a:r>
              <a:t>R$ 23,83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2735" y="4183806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LUCRO OPERACIONAL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2735" y="4330110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Recuperado − custo da ação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66047" y="3854622"/>
            <a:ext cx="2668447" cy="6217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2351" y="3927774"/>
            <a:ext cx="2375839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34436C"/>
                </a:solidFill>
                <a:latin typeface="Arial"/>
              </a:defRPr>
            </a:pPr>
            <a:r>
              <a:t>0,96%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2351" y="4183806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A4A4A"/>
                </a:solidFill>
                <a:latin typeface="Arial"/>
              </a:defRPr>
            </a:pPr>
            <a:r>
              <a:t>ROI OPERACIONAL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2351" y="4330110"/>
            <a:ext cx="2375839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0">
                <a:solidFill>
                  <a:srgbClr val="4A4A4A"/>
                </a:solidFill>
                <a:latin typeface="Arial"/>
              </a:defRPr>
            </a:pPr>
            <a:r>
              <a:t>Lucro ÷ custo da ação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50" b="0" i="1">
                <a:solidFill>
                  <a:srgbClr val="4A4A4A"/>
                </a:solidFill>
                <a:latin typeface="Arial"/>
              </a:defRPr>
            </a:pPr>
            <a:r>
              <a:t>Fonte: fechamento mensal exportado pelo Stock Savvy — período do export: 01/08 a 31/08/2026 · enviado em 10/09/2026 12:24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686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00" b="1" i="0">
                <a:solidFill>
                  <a:srgbClr val="4E7F84"/>
                </a:solidFill>
                <a:latin typeface="Arial"/>
              </a:defRPr>
            </a:pPr>
            <a:r>
              <a:t>RELATÓRIO EXECUTIVO · MÁGIO CHOCOLATES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0352"/>
            <a:ext cx="8869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400" b="1" i="0">
                <a:solidFill>
                  <a:srgbClr val="34436C"/>
                </a:solidFill>
                <a:latin typeface="Arial"/>
              </a:defRPr>
            </a:pPr>
            <a:r>
              <a:t>Fechamento Stock Savvy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869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A4A4A"/>
                </a:solidFill>
                <a:latin typeface="Arial"/>
              </a:defRPr>
            </a:pPr>
            <a:r>
              <a:t>Principais ações do período — as 5 maiores de cada frente monitorada pelo Stock Savvy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39935" y="292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1" i="0">
                <a:solidFill>
                  <a:srgbClr val="4E7F84"/>
                </a:solidFill>
                <a:latin typeface="Arial"/>
              </a:defRPr>
            </a:pPr>
            <a:r>
              <a:t>AGOSTO DE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9935" y="647395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4A4A4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5014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BAIXAS OPERACIONAIS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91056"/>
          <a:ext cx="5501487" cy="128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475"/>
                <a:gridCol w="2243325"/>
                <a:gridCol w="1816025"/>
                <a:gridCol w="1121662"/>
              </a:tblGrid>
              <a:tr h="214884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Detalhe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Café organico em graos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Uso e Consumo · Maurício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R$ 598,88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Maracujá Liofilizado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Vencimento · Thiago Duart…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R$ 253,83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Caixa de Bombons G (30 bombons)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Vencimento · Sheila Caval…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R$ 181,58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amendoas de cupuaçu cru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Sensorial/Inovações · JOS…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R$ 179,40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MANTEIGA DE CACAU desodorizada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Uso e Consumo · JOSUÉ SIM…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R$ 158,75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33007" y="1371600"/>
            <a:ext cx="55014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DISPERSÃO DE LOTE (IDENTIFICADAS)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33007" y="1591056"/>
          <a:ext cx="5501487" cy="128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475"/>
                <a:gridCol w="2243325"/>
                <a:gridCol w="1816025"/>
                <a:gridCol w="1121662"/>
              </a:tblGrid>
              <a:tr h="214884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Detalhe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Liquor de Cacau - Sakaguchi (PA)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perda · 05/08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R$ 4.452,80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MANTEIGA DE CACAU desodorizada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perda · 17/08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R$ 793,76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MANTEIGA DE CACAU desodorizada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perda · 24/08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R$ 603,26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Chocolate - Vale do Jari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perda · 27/08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R$ 499,35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trufa Intenso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perda · 24/08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R$ 453,90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035808"/>
            <a:ext cx="55014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AÇÕES DE LOTE (SHELF LIFE)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255263"/>
          <a:ext cx="5501487" cy="128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475"/>
                <a:gridCol w="2243325"/>
                <a:gridCol w="1816025"/>
                <a:gridCol w="1121662"/>
              </a:tblGrid>
              <a:tr h="214884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Detalhe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Amêndoa de Cacau Seca Aprovada -…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Transformação de Produto…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R$ 244,63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MANTEIGA DE CACAU desodorizada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Forçar Produção · ana jul…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R$ 200,03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Amêndoa de Cacau Seca Aprovada- M…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Outro · ana julia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R$ 169,40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Barra Acará-Açu Granel 60g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Degustação · —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R$ 54,23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MAGIO Povos Kunkuni Cupulate 58%…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Degustação · 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R$ 34,01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233007" y="3035808"/>
            <a:ext cx="55014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MAPEAMENTO DE TESTES OPERACIONAIS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33007" y="3255263"/>
          <a:ext cx="5501487" cy="128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475"/>
                <a:gridCol w="2243325"/>
                <a:gridCol w="1816025"/>
                <a:gridCol w="1121662"/>
              </a:tblGrid>
              <a:tr h="214884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Detalhe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Farinha Criscito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R$ 157,80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Camu Camu liofilizado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0,45 KG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R$ 118,11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Massa de Chocolate Branco - teste…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1,57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R$ 104,90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Cupuaçu Cristalizado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0,84 KG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R$ 103,90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Café Liofilizado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0,3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R$ 74,10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57200" y="4700016"/>
            <a:ext cx="5501487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050" b="1" i="0">
                <a:solidFill>
                  <a:srgbClr val="34436C"/>
                </a:solidFill>
                <a:latin typeface="Arial"/>
              </a:defRPr>
            </a:pPr>
            <a:r>
              <a:t>CONTROLE DE FEFO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4919472"/>
          <a:ext cx="5501487" cy="42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475"/>
                <a:gridCol w="2243325"/>
                <a:gridCol w="1816025"/>
                <a:gridCol w="1121662"/>
              </a:tblGrid>
              <a:tr h="214884"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Ação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Detalhe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34436C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Biscoito Cast. Pará Chocolate 60%…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Mov. 0500104002000050526…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750" b="0">
                          <a:solidFill>
                            <a:srgbClr val="4A4A4A"/>
                          </a:solidFill>
                          <a:latin typeface="Arial"/>
                        </a:defRPr>
                      </a:pPr>
                      <a:r>
                        <a:t>4 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6446520"/>
            <a:ext cx="11277295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900" b="0" i="1">
                <a:solidFill>
                  <a:srgbClr val="4A4A4A"/>
                </a:solidFill>
                <a:latin typeface="Arial"/>
              </a:defRPr>
            </a:pPr>
            <a:r>
              <a:t>Fonte: fechamento mensal exportado pelo Stock Savvy — 5 maiores ações por categoria, já ordenadas por impacto no próprio export · período: 01/08 a 31/08/2026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