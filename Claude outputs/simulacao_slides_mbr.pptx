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Degustação</c:v>
                </c:pt>
              </c:strCache>
            </c:strRef>
          </c:tx>
          <c:spPr>
            <a:solidFill>
              <a:srgbClr val="F170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Jul/26</c:v>
                  </c:pt>
                  <c:pt idx="1">
                    <c:v>Ago/26</c:v>
                  </c:pt>
                  <c:pt idx="2">
                    <c:v>Set/26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320.15</c:v>
                </c:pt>
                <c:pt idx="1">
                  <c:v>625.46</c:v>
                </c:pt>
                <c:pt idx="2">
                  <c:v>1120.31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Sensorial/Inovações</c:v>
                </c:pt>
              </c:strCache>
            </c:strRef>
          </c:tx>
          <c:spPr>
            <a:solidFill>
              <a:srgbClr val="2CC5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Jul/26</c:v>
                  </c:pt>
                  <c:pt idx="1">
                    <c:v>Ago/26</c:v>
                  </c:pt>
                  <c:pt idx="2">
                    <c:v>Set/26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44</c:v>
                </c:pt>
                <c:pt idx="1">
                  <c:v>859.86</c:v>
                </c:pt>
                <c:pt idx="2">
                  <c:v>64.21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4E8"/>
              </a:solidFill>
              <a:prstDash val="solid"/>
              <a:round/>
            </a:ln>
          </c:spPr>
        </c:majorGridlines>
        <c:numFmt formatCode="&quot;R$&quot;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4A4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Cortesia</c:v>
                </c:pt>
              </c:strCache>
            </c:strRef>
          </c:tx>
          <c:spPr>
            <a:solidFill>
              <a:srgbClr val="F2C1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Jul/26</c:v>
                  </c:pt>
                  <c:pt idx="1">
                    <c:v>Ago/26</c:v>
                  </c:pt>
                  <c:pt idx="2">
                    <c:v>Set/26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16.5</c:v>
                </c:pt>
                <c:pt idx="1">
                  <c:v>55.9</c:v>
                </c:pt>
                <c:pt idx="2">
                  <c:v>308.23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Uso e Consumo</c:v>
                </c:pt>
              </c:strCache>
            </c:strRef>
          </c:tx>
          <c:spPr>
            <a:solidFill>
              <a:srgbClr val="15659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Jul/26</c:v>
                  </c:pt>
                  <c:pt idx="1">
                    <c:v>Ago/26</c:v>
                  </c:pt>
                  <c:pt idx="2">
                    <c:v>Set/26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2365.66</c:v>
                </c:pt>
                <c:pt idx="1">
                  <c:v>1229.37</c:v>
                </c:pt>
                <c:pt idx="2">
                  <c:v>1661.6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4E8"/>
              </a:solidFill>
              <a:prstDash val="solid"/>
              <a:round/>
            </a:ln>
          </c:spPr>
        </c:majorGridlines>
        <c:numFmt formatCode="&quot;R$&quot;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4A4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7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EXECUTIVO · MÁGIO CHOCOLATES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4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Baixas Operacionais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Degustação e Sensorial/Inovações — pacote de Investimento Operacional (split 1 de 2)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539935" y="292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E7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JUL-SET/2026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539935" y="64739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637178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490472"/>
            <a:ext cx="33445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R$ 3.034,00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03504" y="1865376"/>
            <a:ext cx="33445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do Período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3504" y="2066544"/>
            <a:ext cx="33445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243 baixas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77258" y="1417320"/>
            <a:ext cx="3637178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23562" y="1490472"/>
            <a:ext cx="33445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44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R$ 2.065,92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4423562" y="1865376"/>
            <a:ext cx="33445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Degustação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23562" y="2066544"/>
            <a:ext cx="33445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 lançamentos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097317" y="1417320"/>
            <a:ext cx="3637178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3621" y="1490472"/>
            <a:ext cx="33445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44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R$ 968,08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8243621" y="1865376"/>
            <a:ext cx="33445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Sensorial/Inovações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43621" y="2066544"/>
            <a:ext cx="33445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lançamentos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496312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4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BAIXAS POR MÊS</a:t>
            </a:r>
            <a:endParaRPr lang="en-US" sz="11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57200" y="2788920"/>
          <a:ext cx="6991923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7769163" y="2788920"/>
            <a:ext cx="39653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4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POR MÊS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769163" y="3108960"/>
            <a:ext cx="3965332" cy="457200"/>
          </a:xfrm>
          <a:prstGeom prst="roundRect">
            <a:avLst>
              <a:gd name="adj" fmla="val 16000"/>
            </a:avLst>
          </a:prstGeom>
          <a:solidFill>
            <a:srgbClr val="E4E0D5"/>
          </a:solidFill>
          <a:ln/>
        </p:spPr>
      </p:sp>
      <p:sp>
        <p:nvSpPr>
          <p:cNvPr id="23" name="Text 20"/>
          <p:cNvSpPr/>
          <p:nvPr/>
        </p:nvSpPr>
        <p:spPr>
          <a:xfrm>
            <a:off x="7897179" y="3163824"/>
            <a:ext cx="3709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Jul/26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897179" y="3328416"/>
            <a:ext cx="37093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4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R$ 364,15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769163" y="3657600"/>
            <a:ext cx="3965332" cy="457200"/>
          </a:xfrm>
          <a:prstGeom prst="roundRect">
            <a:avLst>
              <a:gd name="adj" fmla="val 16000"/>
            </a:avLst>
          </a:prstGeom>
          <a:solidFill>
            <a:srgbClr val="E4E0D5"/>
          </a:solidFill>
          <a:ln/>
        </p:spPr>
      </p:sp>
      <p:sp>
        <p:nvSpPr>
          <p:cNvPr id="26" name="Text 23"/>
          <p:cNvSpPr/>
          <p:nvPr/>
        </p:nvSpPr>
        <p:spPr>
          <a:xfrm>
            <a:off x="7897179" y="3712464"/>
            <a:ext cx="3709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Ago/26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897179" y="3877056"/>
            <a:ext cx="37093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4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R$ 1.485,32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769163" y="4206240"/>
            <a:ext cx="3965332" cy="457200"/>
          </a:xfrm>
          <a:prstGeom prst="roundRect">
            <a:avLst>
              <a:gd name="adj" fmla="val 16000"/>
            </a:avLst>
          </a:prstGeom>
          <a:solidFill>
            <a:srgbClr val="E4E0D5"/>
          </a:solidFill>
          <a:ln/>
        </p:spPr>
      </p:sp>
      <p:sp>
        <p:nvSpPr>
          <p:cNvPr id="29" name="Text 26"/>
          <p:cNvSpPr/>
          <p:nvPr/>
        </p:nvSpPr>
        <p:spPr>
          <a:xfrm>
            <a:off x="7897179" y="4261104"/>
            <a:ext cx="3709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Set/26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897179" y="4425696"/>
            <a:ext cx="37093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4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R$ 1.184,52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57200" y="653796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SIMULAÇÃO DE LAYOUT — proposta visual para validação, ainda não implementada no gerador do MBR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7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EXECUTIVO · MÁGIO CHOCOLATES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4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Baixas por Investimento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Cortesia e Uso e Consumo — pacote de Investimento Operacional (split 2 de 2)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539935" y="292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E7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JUL-SET/2026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539935" y="64739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637178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490472"/>
            <a:ext cx="33445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R$ 5.637,26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03504" y="1865376"/>
            <a:ext cx="33445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do Período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3504" y="2066544"/>
            <a:ext cx="33445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 baixas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77258" y="1417320"/>
            <a:ext cx="3637178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23562" y="1490472"/>
            <a:ext cx="33445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44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R$ 380,63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4423562" y="1865376"/>
            <a:ext cx="33445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Cortesia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23562" y="2066544"/>
            <a:ext cx="33445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lançamentos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097317" y="1417320"/>
            <a:ext cx="3637178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3621" y="1490472"/>
            <a:ext cx="33445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44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R$ 5.256,64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8243621" y="1865376"/>
            <a:ext cx="33445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e Consumo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43621" y="2066544"/>
            <a:ext cx="33445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 lançamentos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496312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4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BAIXAS POR MÊS</a:t>
            </a:r>
            <a:endParaRPr lang="en-US" sz="11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57200" y="2788920"/>
          <a:ext cx="6991923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7769163" y="2788920"/>
            <a:ext cx="39653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4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POR MÊS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769163" y="3108960"/>
            <a:ext cx="3965332" cy="457200"/>
          </a:xfrm>
          <a:prstGeom prst="roundRect">
            <a:avLst>
              <a:gd name="adj" fmla="val 16000"/>
            </a:avLst>
          </a:prstGeom>
          <a:solidFill>
            <a:srgbClr val="E4E0D5"/>
          </a:solidFill>
          <a:ln/>
        </p:spPr>
      </p:sp>
      <p:sp>
        <p:nvSpPr>
          <p:cNvPr id="23" name="Text 20"/>
          <p:cNvSpPr/>
          <p:nvPr/>
        </p:nvSpPr>
        <p:spPr>
          <a:xfrm>
            <a:off x="7897179" y="3163824"/>
            <a:ext cx="3709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Jul/26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897179" y="3328416"/>
            <a:ext cx="37093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4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R$ 2.382,16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769163" y="3657600"/>
            <a:ext cx="3965332" cy="457200"/>
          </a:xfrm>
          <a:prstGeom prst="roundRect">
            <a:avLst>
              <a:gd name="adj" fmla="val 16000"/>
            </a:avLst>
          </a:prstGeom>
          <a:solidFill>
            <a:srgbClr val="E4E0D5"/>
          </a:solidFill>
          <a:ln/>
        </p:spPr>
      </p:sp>
      <p:sp>
        <p:nvSpPr>
          <p:cNvPr id="26" name="Text 23"/>
          <p:cNvSpPr/>
          <p:nvPr/>
        </p:nvSpPr>
        <p:spPr>
          <a:xfrm>
            <a:off x="7897179" y="3712464"/>
            <a:ext cx="3709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Ago/26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897179" y="3877056"/>
            <a:ext cx="37093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4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R$ 1.285,27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769163" y="4206240"/>
            <a:ext cx="3965332" cy="457200"/>
          </a:xfrm>
          <a:prstGeom prst="roundRect">
            <a:avLst>
              <a:gd name="adj" fmla="val 16000"/>
            </a:avLst>
          </a:prstGeom>
          <a:solidFill>
            <a:srgbClr val="E4E0D5"/>
          </a:solidFill>
          <a:ln/>
        </p:spPr>
      </p:sp>
      <p:sp>
        <p:nvSpPr>
          <p:cNvPr id="29" name="Text 26"/>
          <p:cNvSpPr/>
          <p:nvPr/>
        </p:nvSpPr>
        <p:spPr>
          <a:xfrm>
            <a:off x="7897179" y="4261104"/>
            <a:ext cx="3709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Set/26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897179" y="4425696"/>
            <a:ext cx="37093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4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R$ 1.969,83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57200" y="653796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SIMULAÇÃO DE LAYOUT — proposta visual para validação, ainda não implementada no gerador do MBR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2026-10-06T11:42:30Z</dcterms:created>
  <dcterms:modified xsi:type="dcterms:W3CDTF">2026-10-06T11:42:30Z</dcterms:modified>
</cp:coreProperties>
</file>