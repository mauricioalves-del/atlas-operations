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Transferências</c:v>
                </c:pt>
              </c:strCache>
            </c:strRef>
          </c:tx>
          <c:spPr>
            <a:solidFill>
              <a:srgbClr val="4E7F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01/09</c:v>
                  </c:pt>
                  <c:pt idx="1">
                    <c:v>02/09</c:v>
                  </c:pt>
                  <c:pt idx="2">
                    <c:v>03/09</c:v>
                  </c:pt>
                  <c:pt idx="3">
                    <c:v>04/09</c:v>
                  </c:pt>
                  <c:pt idx="4">
                    <c:v>08/09</c:v>
                  </c:pt>
                  <c:pt idx="5">
                    <c:v>09/09</c:v>
                  </c:pt>
                  <c:pt idx="6">
                    <c:v>10/09</c:v>
                  </c:pt>
                  <c:pt idx="7">
                    <c:v>11/09</c:v>
                  </c:pt>
                  <c:pt idx="8">
                    <c:v>14/09</c:v>
                  </c:pt>
                  <c:pt idx="9">
                    <c:v>15/09</c:v>
                  </c:pt>
                  <c:pt idx="10">
                    <c:v>16/09</c:v>
                  </c:pt>
                  <c:pt idx="11">
                    <c:v>17/09</c:v>
                  </c:pt>
                  <c:pt idx="12">
                    <c:v>18/09</c:v>
                  </c:pt>
                  <c:pt idx="13">
                    <c:v>21/09</c:v>
                  </c:pt>
                  <c:pt idx="14">
                    <c:v>22/09</c:v>
                  </c:pt>
                  <c:pt idx="15">
                    <c:v>23/09</c:v>
                  </c:pt>
                  <c:pt idx="16">
                    <c:v>24/09</c:v>
                  </c:pt>
                  <c:pt idx="17">
                    <c:v>25/09</c:v>
                  </c:pt>
                  <c:pt idx="18">
                    <c:v>28/09</c:v>
                  </c:pt>
                  <c:pt idx="19">
                    <c:v>30/09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17</c:v>
                </c:pt>
                <c:pt idx="1">
                  <c:v>13</c:v>
                </c:pt>
                <c:pt idx="2">
                  <c:v>9</c:v>
                </c:pt>
                <c:pt idx="3">
                  <c:v>54</c:v>
                </c:pt>
                <c:pt idx="4">
                  <c:v>25</c:v>
                </c:pt>
                <c:pt idx="5">
                  <c:v>2</c:v>
                </c:pt>
                <c:pt idx="6">
                  <c:v>2</c:v>
                </c:pt>
                <c:pt idx="7">
                  <c:v>63</c:v>
                </c:pt>
                <c:pt idx="8">
                  <c:v>20</c:v>
                </c:pt>
                <c:pt idx="9">
                  <c:v>7</c:v>
                </c:pt>
                <c:pt idx="10">
                  <c:v>14</c:v>
                </c:pt>
                <c:pt idx="11">
                  <c:v>40</c:v>
                </c:pt>
                <c:pt idx="12">
                  <c:v>29</c:v>
                </c:pt>
                <c:pt idx="13">
                  <c:v>35</c:v>
                </c:pt>
                <c:pt idx="14">
                  <c:v>3</c:v>
                </c:pt>
                <c:pt idx="15">
                  <c:v>6</c:v>
                </c:pt>
                <c:pt idx="16">
                  <c:v>24</c:v>
                </c:pt>
                <c:pt idx="17">
                  <c:v>1</c:v>
                </c:pt>
                <c:pt idx="18">
                  <c:v>9</c:v>
                </c:pt>
                <c:pt idx="19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Quebras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01/09</c:v>
                  </c:pt>
                  <c:pt idx="1">
                    <c:v>02/09</c:v>
                  </c:pt>
                  <c:pt idx="2">
                    <c:v>03/09</c:v>
                  </c:pt>
                  <c:pt idx="3">
                    <c:v>04/09</c:v>
                  </c:pt>
                  <c:pt idx="4">
                    <c:v>08/09</c:v>
                  </c:pt>
                  <c:pt idx="5">
                    <c:v>09/09</c:v>
                  </c:pt>
                  <c:pt idx="6">
                    <c:v>10/09</c:v>
                  </c:pt>
                  <c:pt idx="7">
                    <c:v>11/09</c:v>
                  </c:pt>
                  <c:pt idx="8">
                    <c:v>14/09</c:v>
                  </c:pt>
                  <c:pt idx="9">
                    <c:v>15/09</c:v>
                  </c:pt>
                  <c:pt idx="10">
                    <c:v>16/09</c:v>
                  </c:pt>
                  <c:pt idx="11">
                    <c:v>17/09</c:v>
                  </c:pt>
                  <c:pt idx="12">
                    <c:v>18/09</c:v>
                  </c:pt>
                  <c:pt idx="13">
                    <c:v>21/09</c:v>
                  </c:pt>
                  <c:pt idx="14">
                    <c:v>22/09</c:v>
                  </c:pt>
                  <c:pt idx="15">
                    <c:v>23/09</c:v>
                  </c:pt>
                  <c:pt idx="16">
                    <c:v>24/09</c:v>
                  </c:pt>
                  <c:pt idx="17">
                    <c:v>25/09</c:v>
                  </c:pt>
                  <c:pt idx="18">
                    <c:v>28/09</c:v>
                  </c:pt>
                  <c:pt idx="19">
                    <c:v>30/09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4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2</c:v>
                </c:pt>
                <c:pt idx="12">
                  <c:v>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5</c:v>
                </c:pt>
                <c:pt idx="17">
                  <c:v>0</c:v>
                </c:pt>
                <c:pt idx="18">
                  <c:v>0</c:v>
                </c:pt>
                <c:pt idx="19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Quebras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A4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05004015 - MAGIO Língua de Onça ao Leite Cx80g</c:v>
                  </c:pt>
                  <c:pt idx="1">
                    <c:v>05004017 - Língua de Onça Leit Praliné Flowpack 11g</c:v>
                  </c:pt>
                  <c:pt idx="2">
                    <c:v>05004014 - MAGIO Língua de Onça Intso Praliné Cx80g</c:v>
                  </c:pt>
                  <c:pt idx="3">
                    <c:v>0050303003 - Nibs de Cacau - Sakaguchi(PA)</c:v>
                  </c:pt>
                  <c:pt idx="4">
                    <c:v>0190213105 - Sacolas de papel tamanho P (24A x 16L)</c:v>
                  </c:pt>
                  <c:pt idx="5">
                    <c:v>05104016 - Bombom SF Leite Ganache de Maracujá 7,7g</c:v>
                  </c:pt>
                  <c:pt idx="6">
                    <c:v>9990111058 - Tapereba Liofilizado</c:v>
                  </c:pt>
                  <c:pt idx="7">
                    <c:v>05004016 - MAGIO Lg de Onça Lt Praliné Avelã Cx80g</c:v>
                  </c:pt>
                  <c:pt idx="8">
                    <c:v>05004056 - Barra ES Leite Praliné de Pistache 80g</c:v>
                  </c:pt>
                  <c:pt idx="9">
                    <c:v>05004097 - Barra ES Leite com Avelã e Maracujá 80g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4A4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Destino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E7F84"/>
              </a:solidFill>
              <a:effectLst/>
            </c:spPr>
          </c:dPt>
          <c:dPt>
            <c:idx val="1"/>
            <c:bubble3D val="0"/>
            <c:spPr>
              <a:solidFill>
                <a:srgbClr val="34436C"/>
              </a:solidFill>
              <a:effectLst/>
            </c:spPr>
          </c:dPt>
          <c:dPt>
            <c:idx val="2"/>
            <c:bubble3D val="0"/>
            <c:spPr>
              <a:solidFill>
                <a:srgbClr val="B1BFE2"/>
              </a:solidFill>
              <a:effectLst/>
            </c:spPr>
          </c:dPt>
          <c:dPt>
            <c:idx val="3"/>
            <c:bubble3D val="0"/>
            <c:spPr>
              <a:solidFill>
                <a:srgbClr val="F2C14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Loja SP</c:v>
                </c:pt>
                <c:pt idx="1">
                  <c:v>Processo</c:v>
                </c:pt>
                <c:pt idx="2">
                  <c:v>Qualidade</c:v>
                </c:pt>
                <c:pt idx="3">
                  <c:v>PDV Ativação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207</c:v>
                </c:pt>
                <c:pt idx="1">
                  <c:v>118</c:v>
                </c:pt>
                <c:pt idx="2">
                  <c:v>34</c:v>
                </c:pt>
                <c:pt idx="3">
                  <c:v>31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Grupo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436C"/>
              </a:solidFill>
              <a:effectLst/>
            </c:spPr>
          </c:dPt>
          <c:dPt>
            <c:idx val="1"/>
            <c:bubble3D val="0"/>
            <c:spPr>
              <a:solidFill>
                <a:srgbClr val="5B7FBF"/>
              </a:solidFill>
              <a:effectLst/>
            </c:spPr>
          </c:dPt>
          <c:dPt>
            <c:idx val="2"/>
            <c:bubble3D val="0"/>
            <c:spPr>
              <a:solidFill>
                <a:srgbClr val="9DB4D9"/>
              </a:solidFill>
              <a:effectLst/>
            </c:spPr>
          </c:dPt>
          <c:dPt>
            <c:idx val="3"/>
            <c:bubble3D val="0"/>
            <c:spPr>
              <a:solidFill>
                <a:srgbClr val="C62828"/>
              </a:solidFill>
              <a:effectLst/>
            </c:spPr>
          </c:dPt>
          <c:dPt>
            <c:idx val="4"/>
            <c:bubble3D val="0"/>
            <c:spPr>
              <a:solidFill>
                <a:srgbClr val="F2C14E"/>
              </a:solidFill>
              <a:effectLst/>
            </c:spPr>
          </c:dPt>
          <c:dPt>
            <c:idx val="5"/>
            <c:bubble3D val="0"/>
            <c:spPr>
              <a:solidFill>
                <a:srgbClr val="81C784"/>
              </a:solidFill>
              <a:effectLst/>
            </c:spPr>
          </c:dPt>
          <c:dPt>
            <c:idx val="6"/>
            <c:bubble3D val="0"/>
            <c:spPr>
              <a:solidFill>
                <a:srgbClr val="E2E4E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7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7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7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7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7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7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7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Produto Acabado</c:v>
                </c:pt>
                <c:pt idx="1">
                  <c:v>Embalagem</c:v>
                </c:pt>
                <c:pt idx="2">
                  <c:v>Matéria Prima</c:v>
                </c:pt>
                <c:pt idx="3">
                  <c:v>Mercadoria de Revenda</c:v>
                </c:pt>
                <c:pt idx="4">
                  <c:v>Produto em Processo</c:v>
                </c:pt>
                <c:pt idx="5">
                  <c:v>SubConjunto</c:v>
                </c:pt>
                <c:pt idx="6">
                  <c:v>Material de Consumo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181</c:v>
                </c:pt>
                <c:pt idx="1">
                  <c:v>97</c:v>
                </c:pt>
                <c:pt idx="2">
                  <c:v>64</c:v>
                </c:pt>
                <c:pt idx="3">
                  <c:v>24</c:v>
                </c:pt>
                <c:pt idx="4">
                  <c:v>18</c:v>
                </c:pt>
                <c:pt idx="5">
                  <c:v>5</c:v>
                </c:pt>
                <c:pt idx="6">
                  <c:v>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7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EXECUTIVO · MÁGIO CHOCOLATES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FEFO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FEFO — transferências auditadas, quebras e top produtos (fonte oficial do indicador)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E7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JUL-SET/2026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8216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08760"/>
            <a:ext cx="23895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TRANSFERÊNCIAS AUDITADAS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3504" y="1691640"/>
            <a:ext cx="2389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03504" y="2020824"/>
            <a:ext cx="23895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390 linha(s) no filtro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22244" y="1417320"/>
            <a:ext cx="268216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8548" y="1508760"/>
            <a:ext cx="23895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QUEBRAS DE FEFO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68548" y="1691640"/>
            <a:ext cx="2389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68548" y="2020824"/>
            <a:ext cx="23895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 vs. semana anterior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87288" y="1417320"/>
            <a:ext cx="268216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3592" y="1508760"/>
            <a:ext cx="23895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QUEBRA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33592" y="1691640"/>
            <a:ext cx="2389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33592" y="2020824"/>
            <a:ext cx="23895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-8,0 p.p. vs. semana anterior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052331" y="1417320"/>
            <a:ext cx="268216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98635" y="1508760"/>
            <a:ext cx="23895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 / INCONCLUSIVO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98635" y="1691640"/>
            <a:ext cx="23895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359 / 10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98635" y="2020824"/>
            <a:ext cx="23895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sem validade ou almox não mapeado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2459736"/>
            <a:ext cx="5524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TRANSFERÊNCIAS E QUEBRAS POR DIA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57200" y="2697480"/>
          <a:ext cx="5524348" cy="15910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6210148" y="2459736"/>
            <a:ext cx="5524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PRODUTOS COM MAIS QUEBRAS</a:t>
            </a:r>
            <a:endParaRPr lang="en-US" sz="105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6210148" y="2697480"/>
          <a:ext cx="5524348" cy="15910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/>
          <p:nvPr/>
        </p:nvSpPr>
        <p:spPr>
          <a:xfrm>
            <a:off x="457200" y="4471416"/>
            <a:ext cx="5524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TRANSFERÊNCIAS POR DESTINO</a:t>
            </a:r>
            <a:endParaRPr lang="en-US" sz="105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1451583" y="4709160"/>
          <a:ext cx="3535582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/>
          <p:nvPr/>
        </p:nvSpPr>
        <p:spPr>
          <a:xfrm>
            <a:off x="6210148" y="4471416"/>
            <a:ext cx="5524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TRANSFERÊNCIAS POR GRUPO DE PRODUTO</a:t>
            </a:r>
            <a:endParaRPr lang="en-US" sz="1050" dirty="0"/>
          </a:p>
        </p:txBody>
      </p:sp>
      <p:graphicFrame>
        <p:nvGraphicFramePr>
          <p:cNvPr id="30" name="Chart 3" descr=""/>
          <p:cNvGraphicFramePr/>
          <p:nvPr/>
        </p:nvGraphicFramePr>
        <p:xfrm>
          <a:off x="7204530" y="4709160"/>
          <a:ext cx="3535582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1" name="Text 25"/>
          <p:cNvSpPr/>
          <p:nvPr/>
        </p:nvSpPr>
        <p:spPr>
          <a:xfrm>
            <a:off x="457200" y="6583680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DE LAYOUT — proposta visual para validação, ainda não implementada no gerador do MBR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2026-10-06T19:51:22Z</dcterms:created>
  <dcterms:modified xsi:type="dcterms:W3CDTF">2026-10-06T19:51:22Z</dcterms:modified>
</cp:coreProperties>
</file>