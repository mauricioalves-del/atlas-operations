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IAP (por valor)</c:v>
                </c:pt>
              </c:strCache>
            </c:strRef>
          </c:tx>
          <c:spPr>
            <a:solidFill>
              <a:srgbClr val="34436C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Fev/26</c:v>
                </c:pt>
                <c:pt idx="1">
                  <c:v>Abr/26</c:v>
                </c:pt>
                <c:pt idx="2">
                  <c:v>Mai/26</c:v>
                </c:pt>
                <c:pt idx="3">
                  <c:v>Jun/26</c:v>
                </c:pt>
                <c:pt idx="4">
                  <c:v>Jul/26</c:v>
                </c:pt>
                <c:pt idx="5">
                  <c:v>Ago/26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93.93</c:v>
                </c:pt>
                <c:pt idx="1">
                  <c:v>75.569999999999993</c:v>
                </c:pt>
                <c:pt idx="2">
                  <c:v>79.03</c:v>
                </c:pt>
                <c:pt idx="3">
                  <c:v>91.24</c:v>
                </c:pt>
                <c:pt idx="4">
                  <c:v>98.79</c:v>
                </c:pt>
                <c:pt idx="5">
                  <c:v>99.22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A6C-49BA-9CE3-B63C919279C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Tendência linear</c:v>
          </c:tx>
          <c:spPr>
            <a:ln w="17780">
              <a:solidFill>
                <a:srgbClr val="2E7D32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2E7D3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Fev/26</c:v>
                </c:pt>
                <c:pt idx="1">
                  <c:v>Abr/26</c:v>
                </c:pt>
                <c:pt idx="2">
                  <c:v>Mai/26</c:v>
                </c:pt>
                <c:pt idx="3">
                  <c:v>Jun/26</c:v>
                </c:pt>
                <c:pt idx="4">
                  <c:v>Jul/26</c:v>
                </c:pt>
                <c:pt idx="5">
                  <c:v>Ago/26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81.892857142857139</c:v>
                </c:pt>
                <c:pt idx="1">
                  <c:v>84.987714285714276</c:v>
                </c:pt>
                <c:pt idx="2">
                  <c:v>88.082571428571427</c:v>
                </c:pt>
                <c:pt idx="3">
                  <c:v>91.177428571428564</c:v>
                </c:pt>
                <c:pt idx="4">
                  <c:v>94.272285714285715</c:v>
                </c:pt>
                <c:pt idx="5">
                  <c:v>97.367142857142852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6C-49BA-9CE3-B63C91927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IAQ (quantidade)</c:v>
                </c:pt>
              </c:strCache>
            </c:strRef>
          </c:tx>
          <c:spPr>
            <a:solidFill>
              <a:srgbClr val="4E7F84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Fev/26</c:v>
                </c:pt>
                <c:pt idx="1">
                  <c:v>Abr/26</c:v>
                </c:pt>
                <c:pt idx="2">
                  <c:v>Mai/26</c:v>
                </c:pt>
                <c:pt idx="3">
                  <c:v>Jun/26</c:v>
                </c:pt>
                <c:pt idx="4">
                  <c:v>Jul/26</c:v>
                </c:pt>
                <c:pt idx="5">
                  <c:v>Ago/26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92.89</c:v>
                </c:pt>
                <c:pt idx="1">
                  <c:v>66.2</c:v>
                </c:pt>
                <c:pt idx="2">
                  <c:v>96.75</c:v>
                </c:pt>
                <c:pt idx="3">
                  <c:v>98.38</c:v>
                </c:pt>
                <c:pt idx="4">
                  <c:v>99.13</c:v>
                </c:pt>
                <c:pt idx="5">
                  <c:v>98.95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4F4-4A3E-A99B-7B9F0CC48E2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Tendência linear</c:v>
          </c:tx>
          <c:spPr>
            <a:ln w="17780">
              <a:solidFill>
                <a:srgbClr val="2E7D32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2E7D3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Fev/26</c:v>
                </c:pt>
                <c:pt idx="1">
                  <c:v>Abr/26</c:v>
                </c:pt>
                <c:pt idx="2">
                  <c:v>Mai/26</c:v>
                </c:pt>
                <c:pt idx="3">
                  <c:v>Jun/26</c:v>
                </c:pt>
                <c:pt idx="4">
                  <c:v>Jul/26</c:v>
                </c:pt>
                <c:pt idx="5">
                  <c:v>Ago/26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82.712857142857146</c:v>
                </c:pt>
                <c:pt idx="1">
                  <c:v>86.447714285714284</c:v>
                </c:pt>
                <c:pt idx="2">
                  <c:v>90.182571428571435</c:v>
                </c:pt>
                <c:pt idx="3">
                  <c:v>93.917428571428573</c:v>
                </c:pt>
                <c:pt idx="4">
                  <c:v>97.652285714285711</c:v>
                </c:pt>
                <c:pt idx="5">
                  <c:v>101.38714285714286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F4-4A3E-A99B-7B9F0CC48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(R$)</c:v>
                </c:pt>
              </c:strCache>
            </c:strRef>
          </c:tx>
          <c:spPr>
            <a:solidFill>
              <a:srgbClr val="4E7F84"/>
            </a:solidFill>
            <a:ln>
              <a:noFill/>
            </a:ln>
          </c:spPr>
          <c:invertIfNegative val="1"/>
          <c:cat>
            <c:strRef>
              <c:f>Sheet1!$A$2:$A$22</c:f>
              <c:strCache>
                <c:ptCount val="21"/>
                <c:pt idx="0">
                  <c:v>9990712028</c:v>
                </c:pt>
                <c:pt idx="1">
                  <c:v>0260303001</c:v>
                </c:pt>
                <c:pt idx="2">
                  <c:v>0190213159</c:v>
                </c:pt>
                <c:pt idx="3">
                  <c:v>0020305008</c:v>
                </c:pt>
                <c:pt idx="4">
                  <c:v>0140106004</c:v>
                </c:pt>
                <c:pt idx="5">
                  <c:v>05004149</c:v>
                </c:pt>
                <c:pt idx="6">
                  <c:v>9990712026</c:v>
                </c:pt>
                <c:pt idx="7">
                  <c:v>0190213090</c:v>
                </c:pt>
                <c:pt idx="8">
                  <c:v>9990117003</c:v>
                </c:pt>
                <c:pt idx="9">
                  <c:v>9990712030</c:v>
                </c:pt>
                <c:pt idx="10">
                  <c:v>9990111004</c:v>
                </c:pt>
                <c:pt idx="11">
                  <c:v>0050303003</c:v>
                </c:pt>
                <c:pt idx="12">
                  <c:v>9990712035</c:v>
                </c:pt>
                <c:pt idx="13">
                  <c:v>0050303003</c:v>
                </c:pt>
                <c:pt idx="14">
                  <c:v>9990111031</c:v>
                </c:pt>
                <c:pt idx="15">
                  <c:v>0190213131</c:v>
                </c:pt>
                <c:pt idx="16">
                  <c:v>05004008</c:v>
                </c:pt>
                <c:pt idx="17">
                  <c:v>9990712035</c:v>
                </c:pt>
                <c:pt idx="18">
                  <c:v>05004097</c:v>
                </c:pt>
                <c:pt idx="19">
                  <c:v>9990712037</c:v>
                </c:pt>
                <c:pt idx="20">
                  <c:v>+141 itens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287.33</c:v>
                </c:pt>
                <c:pt idx="1">
                  <c:v>267.23</c:v>
                </c:pt>
                <c:pt idx="2">
                  <c:v>235.8</c:v>
                </c:pt>
                <c:pt idx="3">
                  <c:v>197.06</c:v>
                </c:pt>
                <c:pt idx="4">
                  <c:v>179.33</c:v>
                </c:pt>
                <c:pt idx="5">
                  <c:v>179.04</c:v>
                </c:pt>
                <c:pt idx="6">
                  <c:v>157.53</c:v>
                </c:pt>
                <c:pt idx="7">
                  <c:v>142.91</c:v>
                </c:pt>
                <c:pt idx="8">
                  <c:v>141.49</c:v>
                </c:pt>
                <c:pt idx="9">
                  <c:v>139.24</c:v>
                </c:pt>
                <c:pt idx="10">
                  <c:v>128.22999999999999</c:v>
                </c:pt>
                <c:pt idx="11">
                  <c:v>112.84</c:v>
                </c:pt>
                <c:pt idx="12">
                  <c:v>106.92</c:v>
                </c:pt>
                <c:pt idx="13">
                  <c:v>102.72</c:v>
                </c:pt>
                <c:pt idx="14">
                  <c:v>98.4</c:v>
                </c:pt>
                <c:pt idx="15">
                  <c:v>96</c:v>
                </c:pt>
                <c:pt idx="16">
                  <c:v>86.58</c:v>
                </c:pt>
                <c:pt idx="17">
                  <c:v>81</c:v>
                </c:pt>
                <c:pt idx="18">
                  <c:v>75.19</c:v>
                </c:pt>
                <c:pt idx="19">
                  <c:v>72.900000000000006</c:v>
                </c:pt>
                <c:pt idx="20">
                  <c:v>1845.77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8E2-4452-9C05-6E37F2CFF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% acumulado do valor</c:v>
          </c:tx>
          <c:spPr>
            <a:ln w="19050">
              <a:solidFill>
                <a:srgbClr val="F9A825"/>
              </a:solidFill>
            </a:ln>
          </c:spPr>
          <c:marker>
            <c:symbol val="circle"/>
            <c:size val="5"/>
            <c:spPr>
              <a:solidFill>
                <a:srgbClr val="F9A82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9990712028</c:v>
                </c:pt>
                <c:pt idx="1">
                  <c:v>0260303001</c:v>
                </c:pt>
                <c:pt idx="2">
                  <c:v>0190213159</c:v>
                </c:pt>
                <c:pt idx="3">
                  <c:v>0020305008</c:v>
                </c:pt>
                <c:pt idx="4">
                  <c:v>0140106004</c:v>
                </c:pt>
                <c:pt idx="5">
                  <c:v>05004149</c:v>
                </c:pt>
                <c:pt idx="6">
                  <c:v>9990712026</c:v>
                </c:pt>
                <c:pt idx="7">
                  <c:v>0190213090</c:v>
                </c:pt>
                <c:pt idx="8">
                  <c:v>9990117003</c:v>
                </c:pt>
                <c:pt idx="9">
                  <c:v>9990712030</c:v>
                </c:pt>
                <c:pt idx="10">
                  <c:v>9990111004</c:v>
                </c:pt>
                <c:pt idx="11">
                  <c:v>0050303003</c:v>
                </c:pt>
                <c:pt idx="12">
                  <c:v>9990712035</c:v>
                </c:pt>
                <c:pt idx="13">
                  <c:v>0050303003</c:v>
                </c:pt>
                <c:pt idx="14">
                  <c:v>9990111031</c:v>
                </c:pt>
                <c:pt idx="15">
                  <c:v>0190213131</c:v>
                </c:pt>
                <c:pt idx="16">
                  <c:v>05004008</c:v>
                </c:pt>
                <c:pt idx="17">
                  <c:v>9990712035</c:v>
                </c:pt>
                <c:pt idx="18">
                  <c:v>05004097</c:v>
                </c:pt>
                <c:pt idx="19">
                  <c:v>9990712037</c:v>
                </c:pt>
                <c:pt idx="20">
                  <c:v>+141 itens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6.1</c:v>
                </c:pt>
                <c:pt idx="1">
                  <c:v>11.7</c:v>
                </c:pt>
                <c:pt idx="2">
                  <c:v>16.7</c:v>
                </c:pt>
                <c:pt idx="3">
                  <c:v>20.9</c:v>
                </c:pt>
                <c:pt idx="4">
                  <c:v>24.6</c:v>
                </c:pt>
                <c:pt idx="5">
                  <c:v>28.4</c:v>
                </c:pt>
                <c:pt idx="6">
                  <c:v>31.8</c:v>
                </c:pt>
                <c:pt idx="7">
                  <c:v>34.799999999999997</c:v>
                </c:pt>
                <c:pt idx="8">
                  <c:v>37.799999999999997</c:v>
                </c:pt>
                <c:pt idx="9">
                  <c:v>40.700000000000003</c:v>
                </c:pt>
                <c:pt idx="10">
                  <c:v>43.4</c:v>
                </c:pt>
                <c:pt idx="11">
                  <c:v>45.8</c:v>
                </c:pt>
                <c:pt idx="12">
                  <c:v>48.1</c:v>
                </c:pt>
                <c:pt idx="13">
                  <c:v>50.2</c:v>
                </c:pt>
                <c:pt idx="14">
                  <c:v>52.3</c:v>
                </c:pt>
                <c:pt idx="15">
                  <c:v>54.3</c:v>
                </c:pt>
                <c:pt idx="16">
                  <c:v>56.2</c:v>
                </c:pt>
                <c:pt idx="17">
                  <c:v>57.9</c:v>
                </c:pt>
                <c:pt idx="18">
                  <c:v>59.5</c:v>
                </c:pt>
                <c:pt idx="19">
                  <c:v>61</c:v>
                </c:pt>
                <c:pt idx="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E2-4452-9C05-6E37F2CFF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5"/>
        <c:axId val="-211399443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  <a:endParaRPr lang="pt-BR"/>
          </a:p>
        </c:txPr>
        <c:crossAx val="-2068027336"/>
        <c:crosses val="autoZero"/>
        <c:crossBetween val="between"/>
      </c:valAx>
      <c:catAx>
        <c:axId val="-20680273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113994439"/>
        <c:crosses val="autoZero"/>
        <c:auto val="1"/>
        <c:lblAlgn val="ctr"/>
        <c:lblOffset val="100"/>
        <c:noMultiLvlLbl val="0"/>
      </c:catAx>
      <c:valAx>
        <c:axId val="-2113994439"/>
        <c:scaling>
          <c:orientation val="minMax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  <a:endParaRPr lang="pt-BR"/>
          </a:p>
        </c:txPr>
        <c:crossAx val="-2068027335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Nº de itens</c:v>
                </c:pt>
              </c:strCache>
            </c:strRef>
          </c:tx>
          <c:spPr>
            <a:solidFill>
              <a:srgbClr val="34436C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 a 5 un.</c:v>
                </c:pt>
                <c:pt idx="1">
                  <c:v>5 a 20 un.</c:v>
                </c:pt>
                <c:pt idx="2">
                  <c:v>20 a 100 un.</c:v>
                </c:pt>
                <c:pt idx="3">
                  <c:v>mais de 100 un.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</c:v>
                </c:pt>
                <c:pt idx="1">
                  <c:v>34</c:v>
                </c:pt>
                <c:pt idx="2">
                  <c:v>14</c:v>
                </c:pt>
                <c:pt idx="3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858-4130-B31B-1DB5638739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Valor total (R$)</c:v>
          </c:tx>
          <c:spPr>
            <a:ln w="19050">
              <a:solidFill>
                <a:srgbClr val="F9A825"/>
              </a:solidFill>
            </a:ln>
          </c:spPr>
          <c:marker>
            <c:symbol val="circle"/>
            <c:size val="5"/>
            <c:spPr>
              <a:solidFill>
                <a:srgbClr val="F9A82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 a 5 un.</c:v>
                </c:pt>
                <c:pt idx="1">
                  <c:v>5 a 20 un.</c:v>
                </c:pt>
                <c:pt idx="2">
                  <c:v>20 a 100 un.</c:v>
                </c:pt>
                <c:pt idx="3">
                  <c:v>mais de 100 un.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1821.61</c:v>
                </c:pt>
                <c:pt idx="1">
                  <c:v>1186.05</c:v>
                </c:pt>
                <c:pt idx="2">
                  <c:v>615.37</c:v>
                </c:pt>
                <c:pt idx="3">
                  <c:v>1110.48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58-4130-B31B-1DB563873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5"/>
        <c:axId val="-211399443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  <a:endParaRPr lang="pt-BR"/>
          </a:p>
        </c:txPr>
        <c:crossAx val="-2068027336"/>
        <c:crosses val="autoZero"/>
        <c:crossBetween val="between"/>
      </c:valAx>
      <c:catAx>
        <c:axId val="-20680273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113994439"/>
        <c:crosses val="autoZero"/>
        <c:auto val="1"/>
        <c:lblAlgn val="ctr"/>
        <c:lblOffset val="100"/>
        <c:noMultiLvlLbl val="0"/>
      </c:catAx>
      <c:valAx>
        <c:axId val="-2113994439"/>
        <c:scaling>
          <c:orientation val="minMax"/>
        </c:scaling>
        <c:delete val="0"/>
        <c:axPos val="r"/>
        <c:numFmt formatCode="&quot;R$&quot;\ 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4A4A4A"/>
                </a:solidFill>
              </a:defRPr>
            </a:pPr>
            <a:endParaRPr lang="pt-BR"/>
          </a:p>
        </c:txPr>
        <c:crossAx val="-2068027335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 geral</c:v>
                </c:pt>
              </c:strCache>
            </c:strRef>
          </c:tx>
          <c:spPr>
            <a:solidFill>
              <a:srgbClr val="F9A825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62828"/>
              </a:solidFill>
            </c:spPr>
            <c:extLst>
              <c:ext xmlns:c16="http://schemas.microsoft.com/office/drawing/2014/chart" uri="{C3380CC4-5D6E-409C-BE32-E72D297353CC}">
                <c16:uniqueId val="{00000001-F351-4CA1-968A-F28320C41E31}"/>
              </c:ext>
            </c:extLst>
          </c:dPt>
          <c:dPt>
            <c:idx val="1"/>
            <c:invertIfNegative val="1"/>
            <c:bubble3D val="0"/>
            <c:spPr>
              <a:solidFill>
                <a:srgbClr val="C62828"/>
              </a:solidFill>
            </c:spPr>
            <c:extLst>
              <c:ext xmlns:c16="http://schemas.microsoft.com/office/drawing/2014/chart" uri="{C3380CC4-5D6E-409C-BE32-E72D297353CC}">
                <c16:uniqueId val="{00000003-F351-4CA1-968A-F28320C41E31}"/>
              </c:ext>
            </c:extLst>
          </c:dPt>
          <c:dPt>
            <c:idx val="2"/>
            <c:invertIfNegative val="1"/>
            <c:bubble3D val="0"/>
            <c:spPr>
              <a:solidFill>
                <a:srgbClr val="F9A825"/>
              </a:solidFill>
            </c:spPr>
            <c:extLst>
              <c:ext xmlns:c16="http://schemas.microsoft.com/office/drawing/2014/chart" uri="{C3380CC4-5D6E-409C-BE32-E72D297353CC}">
                <c16:uniqueId val="{00000005-F351-4CA1-968A-F28320C41E31}"/>
              </c:ext>
            </c:extLst>
          </c:dPt>
          <c:dPt>
            <c:idx val="3"/>
            <c:invertIfNegative val="1"/>
            <c:bubble3D val="0"/>
            <c:spPr>
              <a:solidFill>
                <a:srgbClr val="F9A825"/>
              </a:solidFill>
            </c:spPr>
            <c:extLst>
              <c:ext xmlns:c16="http://schemas.microsoft.com/office/drawing/2014/chart" uri="{C3380CC4-5D6E-409C-BE32-E72D297353CC}">
                <c16:uniqueId val="{00000007-F351-4CA1-968A-F28320C41E31}"/>
              </c:ext>
            </c:extLst>
          </c:dPt>
          <c:dPt>
            <c:idx val="4"/>
            <c:invertIfNegative val="1"/>
            <c:bubble3D val="0"/>
            <c:spPr>
              <a:solidFill>
                <a:srgbClr val="F9A825"/>
              </a:solidFill>
            </c:spPr>
            <c:extLst>
              <c:ext xmlns:c16="http://schemas.microsoft.com/office/drawing/2014/chart" uri="{C3380CC4-5D6E-409C-BE32-E72D297353CC}">
                <c16:uniqueId val="{00000009-F351-4CA1-968A-F28320C41E31}"/>
              </c:ext>
            </c:extLst>
          </c:dPt>
          <c:dPt>
            <c:idx val="5"/>
            <c:invertIfNegative val="1"/>
            <c:bubble3D val="0"/>
            <c:spPr>
              <a:solidFill>
                <a:srgbClr val="F9A825"/>
              </a:solidFill>
            </c:spPr>
            <c:extLst>
              <c:ext xmlns:c16="http://schemas.microsoft.com/office/drawing/2014/chart" uri="{C3380CC4-5D6E-409C-BE32-E72D297353CC}">
                <c16:uniqueId val="{0000000B-F351-4CA1-968A-F28320C41E3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351-4CA1-968A-F28320C41E31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000">
                      <a:solidFill>
                        <a:srgbClr val="FFFFFF"/>
                      </a:solidFill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351-4CA1-968A-F28320C41E31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1000">
                      <a:solidFill>
                        <a:srgbClr val="2A2A2A"/>
                      </a:solidFill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351-4CA1-968A-F28320C41E31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1000">
                      <a:solidFill>
                        <a:srgbClr val="2A2A2A"/>
                      </a:solidFill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351-4CA1-968A-F28320C41E31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1000">
                      <a:solidFill>
                        <a:srgbClr val="2A2A2A"/>
                      </a:solidFill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351-4CA1-968A-F28320C41E31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1000">
                      <a:solidFill>
                        <a:srgbClr val="2A2A2A"/>
                      </a:solidFill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351-4CA1-968A-F28320C41E3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Fev/26</c:v>
                </c:pt>
                <c:pt idx="1">
                  <c:v>Abr/26</c:v>
                </c:pt>
                <c:pt idx="2">
                  <c:v>Mai/26</c:v>
                </c:pt>
                <c:pt idx="3">
                  <c:v>Jun/26</c:v>
                </c:pt>
                <c:pt idx="4">
                  <c:v>Jul/26</c:v>
                </c:pt>
                <c:pt idx="5">
                  <c:v>Ago/26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44.27</c:v>
                </c:pt>
                <c:pt idx="1">
                  <c:v>26.76</c:v>
                </c:pt>
                <c:pt idx="2">
                  <c:v>67.400000000000006</c:v>
                </c:pt>
                <c:pt idx="3">
                  <c:v>71.180000000000007</c:v>
                </c:pt>
                <c:pt idx="4">
                  <c:v>73.7</c:v>
                </c:pt>
                <c:pt idx="5">
                  <c:v>77.319999999999993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F351-4CA1-968A-F28320C41E3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Tendência linear</c:v>
          </c:tx>
          <c:spPr>
            <a:ln w="17780">
              <a:solidFill>
                <a:srgbClr val="2E7D32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2E7D3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Fev/26</c:v>
                </c:pt>
                <c:pt idx="1">
                  <c:v>Abr/26</c:v>
                </c:pt>
                <c:pt idx="2">
                  <c:v>Mai/26</c:v>
                </c:pt>
                <c:pt idx="3">
                  <c:v>Jun/26</c:v>
                </c:pt>
                <c:pt idx="4">
                  <c:v>Jul/26</c:v>
                </c:pt>
                <c:pt idx="5">
                  <c:v>Ago/26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37.972857142857144</c:v>
                </c:pt>
                <c:pt idx="1">
                  <c:v>46.825714285714284</c:v>
                </c:pt>
                <c:pt idx="2">
                  <c:v>55.678571428571431</c:v>
                </c:pt>
                <c:pt idx="3">
                  <c:v>64.531428571428563</c:v>
                </c:pt>
                <c:pt idx="4">
                  <c:v>73.38428571428571</c:v>
                </c:pt>
                <c:pt idx="5">
                  <c:v>82.237142857142857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F351-4CA1-968A-F28320C41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spPr>
            <a:solidFill>
              <a:srgbClr val="4E7F84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Mai/26</c:v>
                </c:pt>
                <c:pt idx="1">
                  <c:v>Jun/26</c:v>
                </c:pt>
                <c:pt idx="2">
                  <c:v>Jul/26</c:v>
                </c:pt>
                <c:pt idx="3">
                  <c:v>Ago/26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66.03</c:v>
                </c:pt>
                <c:pt idx="1">
                  <c:v>60.67</c:v>
                </c:pt>
                <c:pt idx="2">
                  <c:v>86.86</c:v>
                </c:pt>
                <c:pt idx="3">
                  <c:v>90.38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E2C-4292-B206-D96E35BA4B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Descarte/Qualidade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4530.5</c:v>
                </c:pt>
                <c:pt idx="2">
                  <c:v>2019.37</c:v>
                </c:pt>
                <c:pt idx="3">
                  <c:v>57.56</c:v>
                </c:pt>
                <c:pt idx="4">
                  <c:v>348.47</c:v>
                </c:pt>
                <c:pt idx="5">
                  <c:v>1300.69</c:v>
                </c:pt>
                <c:pt idx="6">
                  <c:v>77954.539999999994</c:v>
                </c:pt>
                <c:pt idx="7">
                  <c:v>146.13999999999999</c:v>
                </c:pt>
                <c:pt idx="8">
                  <c:v>224.92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F2B-4570-83E0-C911AB746A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Vencimento</c:v>
                </c:pt>
              </c:strCache>
            </c:strRef>
          </c:tx>
          <c:spPr>
            <a:solidFill>
              <a:srgbClr val="F9A825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96.62</c:v>
                </c:pt>
                <c:pt idx="1">
                  <c:v>3661.27</c:v>
                </c:pt>
                <c:pt idx="2">
                  <c:v>600.23</c:v>
                </c:pt>
                <c:pt idx="3">
                  <c:v>1994.18</c:v>
                </c:pt>
                <c:pt idx="4">
                  <c:v>3634.47</c:v>
                </c:pt>
                <c:pt idx="5">
                  <c:v>43.96</c:v>
                </c:pt>
                <c:pt idx="6">
                  <c:v>524.27</c:v>
                </c:pt>
                <c:pt idx="7">
                  <c:v>1216.8399999999999</c:v>
                </c:pt>
                <c:pt idx="8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F2B-4570-83E0-C911AB746A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Avaria</c:v>
                </c:pt>
              </c:strCache>
            </c:strRef>
          </c:tx>
          <c:spPr>
            <a:solidFill>
              <a:srgbClr val="34436C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571.88</c:v>
                </c:pt>
                <c:pt idx="1">
                  <c:v>476.2</c:v>
                </c:pt>
                <c:pt idx="2">
                  <c:v>78.569999999999993</c:v>
                </c:pt>
                <c:pt idx="3">
                  <c:v>2813.65</c:v>
                </c:pt>
                <c:pt idx="4">
                  <c:v>2425.04</c:v>
                </c:pt>
                <c:pt idx="5">
                  <c:v>196.87</c:v>
                </c:pt>
                <c:pt idx="6">
                  <c:v>947.97</c:v>
                </c:pt>
                <c:pt idx="7">
                  <c:v>411.51</c:v>
                </c:pt>
                <c:pt idx="8">
                  <c:v>67.31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F2B-4570-83E0-C911AB746AA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Uso e Consumo</c:v>
                </c:pt>
              </c:strCache>
            </c:strRef>
          </c:tx>
          <c:spPr>
            <a:solidFill>
              <a:srgbClr val="4E7F84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1.5</c:v>
                </c:pt>
                <c:pt idx="2">
                  <c:v>0</c:v>
                </c:pt>
                <c:pt idx="3">
                  <c:v>0</c:v>
                </c:pt>
                <c:pt idx="4">
                  <c:v>545.16999999999996</c:v>
                </c:pt>
                <c:pt idx="5">
                  <c:v>1179.0899999999999</c:v>
                </c:pt>
                <c:pt idx="6">
                  <c:v>2585.4499999999998</c:v>
                </c:pt>
                <c:pt idx="7">
                  <c:v>1229.3699999999999</c:v>
                </c:pt>
                <c:pt idx="8">
                  <c:v>42.48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F2B-4570-83E0-C911AB746AA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Degustação</c:v>
                </c:pt>
              </c:strCache>
            </c:strRef>
          </c:tx>
          <c:spPr>
            <a:solidFill>
              <a:srgbClr val="1565C0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64.38</c:v>
                </c:pt>
                <c:pt idx="1">
                  <c:v>4.32</c:v>
                </c:pt>
                <c:pt idx="2">
                  <c:v>11.62</c:v>
                </c:pt>
                <c:pt idx="3">
                  <c:v>182.16</c:v>
                </c:pt>
                <c:pt idx="4">
                  <c:v>314.20999999999998</c:v>
                </c:pt>
                <c:pt idx="5">
                  <c:v>143.94999999999999</c:v>
                </c:pt>
                <c:pt idx="6">
                  <c:v>345.82</c:v>
                </c:pt>
                <c:pt idx="7">
                  <c:v>660.72</c:v>
                </c:pt>
                <c:pt idx="8">
                  <c:v>23.17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2B-4570-83E0-C911AB746AA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Sensorial/Inovações</c:v>
                </c:pt>
              </c:strCache>
            </c:strRef>
          </c:tx>
          <c:spPr>
            <a:solidFill>
              <a:srgbClr val="F1704B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240</c:v>
                </c:pt>
                <c:pt idx="5">
                  <c:v>0</c:v>
                </c:pt>
                <c:pt idx="6">
                  <c:v>44</c:v>
                </c:pt>
                <c:pt idx="7">
                  <c:v>859.86</c:v>
                </c:pt>
                <c:pt idx="8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0F2B-4570-83E0-C911AB746AA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Cortesia</c:v>
                </c:pt>
              </c:strCache>
            </c:strRef>
          </c:tx>
          <c:spPr>
            <a:solidFill>
              <a:srgbClr val="F2C14E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529.65</c:v>
                </c:pt>
                <c:pt idx="3">
                  <c:v>0</c:v>
                </c:pt>
                <c:pt idx="4">
                  <c:v>32.299999999999997</c:v>
                </c:pt>
                <c:pt idx="5">
                  <c:v>165.18</c:v>
                </c:pt>
                <c:pt idx="6">
                  <c:v>16.5</c:v>
                </c:pt>
                <c:pt idx="7">
                  <c:v>55.9</c:v>
                </c:pt>
                <c:pt idx="8">
                  <c:v>11.36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0F2B-4570-83E0-C911AB746AA4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Perda/Furto</c:v>
                </c:pt>
              </c:strCache>
            </c:strRef>
          </c:tx>
          <c:spPr>
            <a:solidFill>
              <a:srgbClr val="B1BFE2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37.549999999999997</c:v>
                </c:pt>
                <c:pt idx="2">
                  <c:v>0</c:v>
                </c:pt>
                <c:pt idx="3">
                  <c:v>239.37</c:v>
                </c:pt>
                <c:pt idx="4">
                  <c:v>305.8</c:v>
                </c:pt>
                <c:pt idx="5">
                  <c:v>12.97</c:v>
                </c:pt>
                <c:pt idx="6">
                  <c:v>0</c:v>
                </c:pt>
                <c:pt idx="7">
                  <c:v>7.94</c:v>
                </c:pt>
                <c:pt idx="8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F2B-4570-83E0-C911AB746AA4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Envio/Laboratório</c:v>
                </c:pt>
              </c:strCache>
            </c:strRef>
          </c:tx>
          <c:spPr>
            <a:solidFill>
              <a:srgbClr val="9E9E9E"/>
            </a:solidFill>
            <a:ln>
              <a:noFill/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39.56</c:v>
                </c:pt>
                <c:pt idx="4">
                  <c:v>0</c:v>
                </c:pt>
                <c:pt idx="5">
                  <c:v>0</c:v>
                </c:pt>
                <c:pt idx="6">
                  <c:v>110.61</c:v>
                </c:pt>
                <c:pt idx="7">
                  <c:v>0.05</c:v>
                </c:pt>
                <c:pt idx="8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0F2B-4570-83E0-C911AB746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lineChart>
        <c:grouping val="standard"/>
        <c:varyColors val="0"/>
        <c:ser>
          <c:idx val="9"/>
          <c:order val="9"/>
          <c:tx>
            <c:v>Total</c:v>
          </c:tx>
          <c:spPr>
            <a:ln>
              <a:noFill/>
            </a:ln>
          </c:spPr>
          <c:marker>
            <c:symbol val="none"/>
          </c:marker>
          <c:dLbls>
            <c:numFmt formatCode="\R\$\ 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1">
                    <a:solidFill>
                      <a:srgbClr val="4A4A4A"/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</c:strCache>
            </c:strRef>
          </c:cat>
          <c:val>
            <c:numRef>
              <c:f>Sheet1!$Z$2:$Z$10</c:f>
              <c:numCache>
                <c:formatCode>General</c:formatCode>
                <c:ptCount val="9"/>
                <c:pt idx="0">
                  <c:v>732.88</c:v>
                </c:pt>
                <c:pt idx="1">
                  <c:v>8711.34</c:v>
                </c:pt>
                <c:pt idx="2">
                  <c:v>3239.44</c:v>
                </c:pt>
                <c:pt idx="3">
                  <c:v>5326.4800000000005</c:v>
                </c:pt>
                <c:pt idx="4">
                  <c:v>7845.46</c:v>
                </c:pt>
                <c:pt idx="5">
                  <c:v>3042.71</c:v>
                </c:pt>
                <c:pt idx="6">
                  <c:v>82529.159999999989</c:v>
                </c:pt>
                <c:pt idx="7">
                  <c:v>4588.33</c:v>
                </c:pt>
                <c:pt idx="8">
                  <c:v>369.24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0F2B-4570-83E0-C911AB746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legendEntry>
        <c:idx val="9"/>
        <c:delete val="1"/>
      </c:legendEntry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Passivos do Mês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E59E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E63-46E5-8DC8-48FE7A70EEB0}"/>
              </c:ext>
            </c:extLst>
          </c:dPt>
          <c:dPt>
            <c:idx val="1"/>
            <c:invertIfNegative val="0"/>
            <c:bubble3D val="0"/>
            <c:spPr>
              <a:solidFill>
                <a:srgbClr val="E59E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E63-46E5-8DC8-48FE7A70EEB0}"/>
              </c:ext>
            </c:extLst>
          </c:dPt>
          <c:dPt>
            <c:idx val="2"/>
            <c:invertIfNegative val="0"/>
            <c:bubble3D val="0"/>
            <c:spPr>
              <a:solidFill>
                <a:srgbClr val="E59E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E63-46E5-8DC8-48FE7A70EEB0}"/>
              </c:ext>
            </c:extLst>
          </c:dPt>
          <c:dPt>
            <c:idx val="3"/>
            <c:invertIfNegative val="0"/>
            <c:bubble3D val="0"/>
            <c:spPr>
              <a:solidFill>
                <a:srgbClr val="E59E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E63-46E5-8DC8-48FE7A70EEB0}"/>
              </c:ext>
            </c:extLst>
          </c:dPt>
          <c:dPt>
            <c:idx val="4"/>
            <c:invertIfNegative val="0"/>
            <c:bubble3D val="0"/>
            <c:spPr>
              <a:solidFill>
                <a:srgbClr val="E59E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BE63-46E5-8DC8-48FE7A70EEB0}"/>
              </c:ext>
            </c:extLst>
          </c:dPt>
          <c:dPt>
            <c:idx val="5"/>
            <c:invertIfNegative val="0"/>
            <c:bubble3D val="0"/>
            <c:spPr>
              <a:solidFill>
                <a:srgbClr val="E59E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BE63-46E5-8DC8-48FE7A70EEB0}"/>
              </c:ext>
            </c:extLst>
          </c:dPt>
          <c:cat>
            <c:strRef>
              <c:f>Sheet1!$A$2:$A$9</c:f>
              <c:strCache>
                <c:ptCount val="8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  <c:pt idx="3">
                  <c:v>Abr/26</c:v>
                </c:pt>
                <c:pt idx="4">
                  <c:v>Mai/26</c:v>
                </c:pt>
                <c:pt idx="5">
                  <c:v>Jun/26</c:v>
                </c:pt>
                <c:pt idx="6">
                  <c:v>Jul/26</c:v>
                </c:pt>
                <c:pt idx="7">
                  <c:v>Ago/26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732.89</c:v>
                </c:pt>
                <c:pt idx="1">
                  <c:v>8711.33</c:v>
                </c:pt>
                <c:pt idx="2">
                  <c:v>3239.44</c:v>
                </c:pt>
                <c:pt idx="3">
                  <c:v>5326.48</c:v>
                </c:pt>
                <c:pt idx="4">
                  <c:v>7845.47</c:v>
                </c:pt>
                <c:pt idx="5">
                  <c:v>3202.63</c:v>
                </c:pt>
                <c:pt idx="6">
                  <c:v>82288.78</c:v>
                </c:pt>
                <c:pt idx="7">
                  <c:v>4201.72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BE63-46E5-8DC8-48FE7A70EE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Resultado de Inventário (abs.)</c:v>
                </c:pt>
              </c:strCache>
            </c:strRef>
          </c:tx>
          <c:spPr>
            <a:solidFill>
              <a:srgbClr val="34436C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A3AA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BE63-46E5-8DC8-48FE7A70EEB0}"/>
              </c:ext>
            </c:extLst>
          </c:dPt>
          <c:dPt>
            <c:idx val="1"/>
            <c:invertIfNegative val="0"/>
            <c:bubble3D val="0"/>
            <c:spPr>
              <a:solidFill>
                <a:srgbClr val="A3AA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BE63-46E5-8DC8-48FE7A70EEB0}"/>
              </c:ext>
            </c:extLst>
          </c:dPt>
          <c:dPt>
            <c:idx val="2"/>
            <c:invertIfNegative val="0"/>
            <c:bubble3D val="0"/>
            <c:spPr>
              <a:solidFill>
                <a:srgbClr val="A3AA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BE63-46E5-8DC8-48FE7A70EEB0}"/>
              </c:ext>
            </c:extLst>
          </c:dPt>
          <c:dPt>
            <c:idx val="3"/>
            <c:invertIfNegative val="0"/>
            <c:bubble3D val="0"/>
            <c:spPr>
              <a:solidFill>
                <a:srgbClr val="A3AA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4-BE63-46E5-8DC8-48FE7A70EEB0}"/>
              </c:ext>
            </c:extLst>
          </c:dPt>
          <c:dPt>
            <c:idx val="4"/>
            <c:invertIfNegative val="0"/>
            <c:bubble3D val="0"/>
            <c:spPr>
              <a:solidFill>
                <a:srgbClr val="A3AA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6-BE63-46E5-8DC8-48FE7A70EEB0}"/>
              </c:ext>
            </c:extLst>
          </c:dPt>
          <c:dPt>
            <c:idx val="5"/>
            <c:invertIfNegative val="0"/>
            <c:bubble3D val="0"/>
            <c:spPr>
              <a:solidFill>
                <a:srgbClr val="A3AA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8-BE63-46E5-8DC8-48FE7A70EEB0}"/>
              </c:ext>
            </c:extLst>
          </c:dPt>
          <c:cat>
            <c:strRef>
              <c:f>Sheet1!$A$2:$A$9</c:f>
              <c:strCache>
                <c:ptCount val="8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  <c:pt idx="3">
                  <c:v>Abr/26</c:v>
                </c:pt>
                <c:pt idx="4">
                  <c:v>Mai/26</c:v>
                </c:pt>
                <c:pt idx="5">
                  <c:v>Jun/26</c:v>
                </c:pt>
                <c:pt idx="6">
                  <c:v>Jul/26</c:v>
                </c:pt>
                <c:pt idx="7">
                  <c:v>Ago/26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2908.68</c:v>
                </c:pt>
                <c:pt idx="1">
                  <c:v>25968.44</c:v>
                </c:pt>
                <c:pt idx="2">
                  <c:v>300.22000000000003</c:v>
                </c:pt>
                <c:pt idx="3">
                  <c:v>29220.880000000001</c:v>
                </c:pt>
                <c:pt idx="4">
                  <c:v>66885.98</c:v>
                </c:pt>
                <c:pt idx="5">
                  <c:v>8175.77</c:v>
                </c:pt>
                <c:pt idx="6">
                  <c:v>5462.6</c:v>
                </c:pt>
                <c:pt idx="7">
                  <c:v>837.81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9-BE63-46E5-8DC8-48FE7A70E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lineChart>
        <c:grouping val="standard"/>
        <c:varyColors val="0"/>
        <c:ser>
          <c:idx val="3"/>
          <c:order val="3"/>
          <c:tx>
            <c:v>Resultado de Inventário do Mês</c:v>
          </c:tx>
          <c:spPr>
            <a:ln w="22225">
              <a:solidFill>
                <a:srgbClr val="F9A825"/>
              </a:solidFill>
            </a:ln>
          </c:spPr>
          <c:marker>
            <c:symbol val="circle"/>
            <c:size val="6"/>
            <c:spPr>
              <a:solidFill>
                <a:srgbClr val="F9A825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R$ 2.909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BE63-46E5-8DC8-48FE7A70EEB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-R$ 25.968</a:t>
                    </a:r>
                  </a:p>
                  <a:p>
                    <a:r>
                      <a:rPr lang="en-US" sz="750" b="1">
                        <a:solidFill>
                          <a:srgbClr val="C62828"/>
                        </a:solidFill>
                        <a:highlight>
                          <a:srgbClr val="FFFFFF"/>
                        </a:highlight>
                      </a:rPr>
                      <a:t>-992,8%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BE63-46E5-8DC8-48FE7A70EEB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R$ 300</a:t>
                    </a:r>
                  </a:p>
                  <a:p>
                    <a:r>
                      <a:rPr lang="en-US" sz="750" b="1">
                        <a:solidFill>
                          <a:srgbClr val="2E7D32"/>
                        </a:solidFill>
                        <a:highlight>
                          <a:srgbClr val="FFFFFF"/>
                        </a:highlight>
                      </a:rPr>
                      <a:t>+101,2%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BE63-46E5-8DC8-48FE7A70EEB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-R$ 29.221</a:t>
                    </a:r>
                  </a:p>
                  <a:p>
                    <a:r>
                      <a:rPr lang="en-US" sz="750" b="1">
                        <a:solidFill>
                          <a:srgbClr val="C62828"/>
                        </a:solidFill>
                        <a:highlight>
                          <a:srgbClr val="FFFFFF"/>
                        </a:highlight>
                      </a:rPr>
                      <a:t>-9.833,2%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BE63-46E5-8DC8-48FE7A70EEB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-R$ 66.886</a:t>
                    </a:r>
                  </a:p>
                  <a:p>
                    <a:r>
                      <a:rPr lang="en-US" sz="750" b="1">
                        <a:solidFill>
                          <a:srgbClr val="C62828"/>
                        </a:solidFill>
                        <a:highlight>
                          <a:srgbClr val="FFFFFF"/>
                        </a:highlight>
                      </a:rPr>
                      <a:t>-128,9%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BE63-46E5-8DC8-48FE7A70EEB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-R$ 8.176</a:t>
                    </a:r>
                  </a:p>
                  <a:p>
                    <a:r>
                      <a:rPr lang="en-US" sz="750" b="1">
                        <a:solidFill>
                          <a:srgbClr val="2E7D32"/>
                        </a:solidFill>
                        <a:highlight>
                          <a:srgbClr val="FFFFFF"/>
                        </a:highlight>
                      </a:rPr>
                      <a:t>+87,8%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BE63-46E5-8DC8-48FE7A70EEB0}"/>
                </c:ext>
              </c:extLst>
            </c:dLbl>
            <c:dLbl>
              <c:idx val="6"/>
              <c:layout>
                <c:manualLayout>
                  <c:x val="-4.9655244143433121E-2"/>
                  <c:y val="-0.19948114124623312"/>
                </c:manualLayout>
              </c:layout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-R$ 5.463</a:t>
                    </a:r>
                  </a:p>
                  <a:p>
                    <a:r>
                      <a:rPr lang="en-US" sz="750" b="1">
                        <a:solidFill>
                          <a:srgbClr val="2E7D32"/>
                        </a:solidFill>
                        <a:highlight>
                          <a:srgbClr val="FFFFFF"/>
                        </a:highlight>
                      </a:rPr>
                      <a:t>+33,2%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BE63-46E5-8DC8-48FE7A70EEB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850" b="1">
                        <a:solidFill>
                          <a:srgbClr val="F9A825"/>
                        </a:solidFill>
                        <a:highlight>
                          <a:srgbClr val="FFFFFF"/>
                        </a:highlight>
                      </a:rPr>
                      <a:t>-R$ 838</a:t>
                    </a:r>
                  </a:p>
                  <a:p>
                    <a:r>
                      <a:rPr lang="en-US" sz="750" b="1">
                        <a:solidFill>
                          <a:srgbClr val="2E7D32"/>
                        </a:solidFill>
                        <a:highlight>
                          <a:srgbClr val="FFFFFF"/>
                        </a:highlight>
                      </a:rPr>
                      <a:t>+84,7%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BE63-46E5-8DC8-48FE7A70EEB0}"/>
                </c:ext>
              </c:extLst>
            </c:dLbl>
            <c:numFmt formatCode="\R\$\ #,##0" sourceLinked="0"/>
            <c:spPr>
              <a:noFill/>
              <a:ln>
                <a:noFill/>
              </a:ln>
            </c:sp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  <c:pt idx="3">
                  <c:v>Abr/26</c:v>
                </c:pt>
                <c:pt idx="4">
                  <c:v>Mai/26</c:v>
                </c:pt>
                <c:pt idx="5">
                  <c:v>Jun/26</c:v>
                </c:pt>
                <c:pt idx="6">
                  <c:v>Jul/26</c:v>
                </c:pt>
                <c:pt idx="7">
                  <c:v>Ago/26</c:v>
                </c:pt>
              </c:strCache>
            </c:strRef>
          </c:cat>
          <c:val>
            <c:numRef>
              <c:f>Sheet1!$X$2:$X$9</c:f>
              <c:numCache>
                <c:formatCode>General</c:formatCode>
                <c:ptCount val="8"/>
                <c:pt idx="0">
                  <c:v>2908.68</c:v>
                </c:pt>
                <c:pt idx="1">
                  <c:v>-25968.44</c:v>
                </c:pt>
                <c:pt idx="2">
                  <c:v>300.22000000000003</c:v>
                </c:pt>
                <c:pt idx="3">
                  <c:v>-29220.880000000001</c:v>
                </c:pt>
                <c:pt idx="4">
                  <c:v>-66885.98</c:v>
                </c:pt>
                <c:pt idx="5">
                  <c:v>-8175.77</c:v>
                </c:pt>
                <c:pt idx="6">
                  <c:v>-5462.6</c:v>
                </c:pt>
                <c:pt idx="7">
                  <c:v>-837.81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2-BE63-46E5-8DC8-48FE7A70E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v>Baixas do Mês (rótulo)</c:v>
          </c:tx>
          <c:spPr>
            <a:ln>
              <a:noFill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7019345483912433E-2"/>
                  <c:y val="-0.28143260641802492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R$ 733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BE63-46E5-8DC8-48FE7A70EEB0}"/>
                </c:ext>
              </c:extLst>
            </c:dLbl>
            <c:dLbl>
              <c:idx val="1"/>
              <c:layout>
                <c:manualLayout>
                  <c:x val="-4.265734265734266E-2"/>
                  <c:y val="-0.18712533618482874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R$ 8.711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BE63-46E5-8DC8-48FE7A70EEB0}"/>
                </c:ext>
              </c:extLst>
            </c:dLbl>
            <c:dLbl>
              <c:idx val="2"/>
              <c:layout>
                <c:manualLayout>
                  <c:x val="-3.8772338772338773E-2"/>
                  <c:y val="-0.30715277102707839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R$ 3.239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BE63-46E5-8DC8-48FE7A70EEB0}"/>
                </c:ext>
              </c:extLst>
            </c:dLbl>
            <c:dLbl>
              <c:idx val="3"/>
              <c:layout>
                <c:manualLayout>
                  <c:x val="-4.265734265734266E-2"/>
                  <c:y val="-0.20427211259086442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R$ 5.326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BE63-46E5-8DC8-48FE7A70EEB0}"/>
                </c:ext>
              </c:extLst>
            </c:dLbl>
            <c:dLbl>
              <c:idx val="4"/>
              <c:layout>
                <c:manualLayout>
                  <c:x val="0"/>
                  <c:y val="-4.4999999999999998E-2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R$ 7.845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BE63-46E5-8DC8-48FE7A70EEB0}"/>
                </c:ext>
              </c:extLst>
            </c:dLbl>
            <c:dLbl>
              <c:idx val="5"/>
              <c:layout>
                <c:manualLayout>
                  <c:x val="-4.265734265734266E-2"/>
                  <c:y val="-0.22999227719991791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R$ 3.203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BE63-46E5-8DC8-48FE7A70EEB0}"/>
                </c:ext>
              </c:extLst>
            </c:dLbl>
            <c:dLbl>
              <c:idx val="6"/>
              <c:layout>
                <c:manualLayout>
                  <c:x val="0"/>
                  <c:y val="-4.4999999999999998E-2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R$ 82.289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BE63-46E5-8DC8-48FE7A70EEB0}"/>
                </c:ext>
              </c:extLst>
            </c:dLbl>
            <c:dLbl>
              <c:idx val="7"/>
              <c:layout>
                <c:manualLayout>
                  <c:x val="-4.6542346542346541E-2"/>
                  <c:y val="-0.29000599462104276"/>
                </c:manualLayout>
              </c:layout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C62828"/>
                        </a:solidFill>
                      </a:rPr>
                      <a:t>R$ 4.202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BE63-46E5-8DC8-48FE7A70EEB0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  <c:pt idx="3">
                  <c:v>Abr/26</c:v>
                </c:pt>
                <c:pt idx="4">
                  <c:v>Mai/26</c:v>
                </c:pt>
                <c:pt idx="5">
                  <c:v>Jun/26</c:v>
                </c:pt>
                <c:pt idx="6">
                  <c:v>Jul/26</c:v>
                </c:pt>
                <c:pt idx="7">
                  <c:v>Ago/26</c:v>
                </c:pt>
              </c:strCache>
            </c:strRef>
          </c:cat>
          <c:val>
            <c:numRef>
              <c:f>Sheet1!$Y$2:$Y$9</c:f>
              <c:numCache>
                <c:formatCode>General</c:formatCode>
                <c:ptCount val="8"/>
                <c:pt idx="0">
                  <c:v>3641.5699999999997</c:v>
                </c:pt>
                <c:pt idx="1">
                  <c:v>34679.769999999997</c:v>
                </c:pt>
                <c:pt idx="2">
                  <c:v>3539.66</c:v>
                </c:pt>
                <c:pt idx="3">
                  <c:v>34547.360000000001</c:v>
                </c:pt>
                <c:pt idx="4">
                  <c:v>74731.45</c:v>
                </c:pt>
                <c:pt idx="5">
                  <c:v>11378.400000000001</c:v>
                </c:pt>
                <c:pt idx="6">
                  <c:v>87751.38</c:v>
                </c:pt>
                <c:pt idx="7">
                  <c:v>5039.5300000000007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B-BE63-46E5-8DC8-48FE7A70E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legendEntry>
        <c:idx val="2"/>
        <c:delete val="1"/>
      </c:legendEntry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Passivos (R$)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Almox_SP_Qualidade</c:v>
                </c:pt>
                <c:pt idx="1">
                  <c:v>Almox_Box</c:v>
                </c:pt>
                <c:pt idx="2">
                  <c:v>Almox_SP_Processo</c:v>
                </c:pt>
                <c:pt idx="3">
                  <c:v>Almox_SP_Loja</c:v>
                </c:pt>
                <c:pt idx="4">
                  <c:v>Almox_SP_Fabrica</c:v>
                </c:pt>
                <c:pt idx="5">
                  <c:v>Almox_PA_Para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358.25</c:v>
                </c:pt>
                <c:pt idx="1">
                  <c:v>0</c:v>
                </c:pt>
                <c:pt idx="2">
                  <c:v>1270.4000000000001</c:v>
                </c:pt>
                <c:pt idx="3">
                  <c:v>3955.73</c:v>
                </c:pt>
                <c:pt idx="4">
                  <c:v>5818.97</c:v>
                </c:pt>
                <c:pt idx="5">
                  <c:v>74387.08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30C-4531-86C5-0326E4A5AF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Resultado Inventário (abs., R$)</c:v>
                </c:pt>
              </c:strCache>
            </c:strRef>
          </c:tx>
          <c:spPr>
            <a:solidFill>
              <a:srgbClr val="34436C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Almox_SP_Qualidade</c:v>
                </c:pt>
                <c:pt idx="1">
                  <c:v>Almox_Box</c:v>
                </c:pt>
                <c:pt idx="2">
                  <c:v>Almox_SP_Processo</c:v>
                </c:pt>
                <c:pt idx="3">
                  <c:v>Almox_SP_Loja</c:v>
                </c:pt>
                <c:pt idx="4">
                  <c:v>Almox_SP_Fabrica</c:v>
                </c:pt>
                <c:pt idx="5">
                  <c:v>Almox_PA_Para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333.67</c:v>
                </c:pt>
                <c:pt idx="1">
                  <c:v>1316.65</c:v>
                </c:pt>
                <c:pt idx="2">
                  <c:v>158.77000000000001</c:v>
                </c:pt>
                <c:pt idx="3">
                  <c:v>874.58</c:v>
                </c:pt>
                <c:pt idx="4">
                  <c:v>2256.0500000000002</c:v>
                </c:pt>
                <c:pt idx="5">
                  <c:v>1017.32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30C-4531-86C5-0326E4A5AF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Urgente</c:v>
                </c:pt>
              </c:strCache>
            </c:strRef>
          </c:tx>
          <c:spPr>
            <a:solidFill>
              <a:srgbClr val="F1704B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Alm_SP_Fabrica</c:v>
                </c:pt>
                <c:pt idx="1">
                  <c:v>Alm_Para</c:v>
                </c:pt>
                <c:pt idx="2">
                  <c:v>Alm_SP_Processo</c:v>
                </c:pt>
                <c:pt idx="3">
                  <c:v>Alm_SP_Loja</c:v>
                </c:pt>
                <c:pt idx="4">
                  <c:v>Alm_SP_Qualidade</c:v>
                </c:pt>
                <c:pt idx="5">
                  <c:v>Alm_Paulista</c:v>
                </c:pt>
                <c:pt idx="6">
                  <c:v>Alm_PDV_Ativacao</c:v>
                </c:pt>
                <c:pt idx="7">
                  <c:v>Alm_Degustacao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78.39</c:v>
                </c:pt>
                <c:pt idx="1">
                  <c:v>912.56</c:v>
                </c:pt>
                <c:pt idx="2">
                  <c:v>215.65</c:v>
                </c:pt>
                <c:pt idx="3">
                  <c:v>253.74</c:v>
                </c:pt>
                <c:pt idx="4">
                  <c:v>242.58</c:v>
                </c:pt>
                <c:pt idx="5">
                  <c:v>85.24</c:v>
                </c:pt>
                <c:pt idx="6">
                  <c:v>28.54</c:v>
                </c:pt>
                <c:pt idx="7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2B5-4E4E-B018-A00B7946DE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Perigo</c:v>
                </c:pt>
              </c:strCache>
            </c:strRef>
          </c:tx>
          <c:spPr>
            <a:solidFill>
              <a:srgbClr val="F2C14E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Alm_SP_Fabrica</c:v>
                </c:pt>
                <c:pt idx="1">
                  <c:v>Alm_Para</c:v>
                </c:pt>
                <c:pt idx="2">
                  <c:v>Alm_SP_Processo</c:v>
                </c:pt>
                <c:pt idx="3">
                  <c:v>Alm_SP_Loja</c:v>
                </c:pt>
                <c:pt idx="4">
                  <c:v>Alm_SP_Qualidade</c:v>
                </c:pt>
                <c:pt idx="5">
                  <c:v>Alm_Paulista</c:v>
                </c:pt>
                <c:pt idx="6">
                  <c:v>Alm_PDV_Ativacao</c:v>
                </c:pt>
                <c:pt idx="7">
                  <c:v>Alm_Degustacao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46332.03</c:v>
                </c:pt>
                <c:pt idx="1">
                  <c:v>20955.47</c:v>
                </c:pt>
                <c:pt idx="2">
                  <c:v>4481.51</c:v>
                </c:pt>
                <c:pt idx="3">
                  <c:v>311.62</c:v>
                </c:pt>
                <c:pt idx="4">
                  <c:v>188.23</c:v>
                </c:pt>
                <c:pt idx="5">
                  <c:v>35.369999999999997</c:v>
                </c:pt>
                <c:pt idx="6">
                  <c:v>50.84</c:v>
                </c:pt>
                <c:pt idx="7">
                  <c:v>8.9700000000000006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2B5-4E4E-B018-A00B7946DE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Atenção</c:v>
                </c:pt>
              </c:strCache>
            </c:strRef>
          </c:tx>
          <c:spPr>
            <a:solidFill>
              <a:srgbClr val="2CC5A8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Alm_SP_Fabrica</c:v>
                </c:pt>
                <c:pt idx="1">
                  <c:v>Alm_Para</c:v>
                </c:pt>
                <c:pt idx="2">
                  <c:v>Alm_SP_Processo</c:v>
                </c:pt>
                <c:pt idx="3">
                  <c:v>Alm_SP_Loja</c:v>
                </c:pt>
                <c:pt idx="4">
                  <c:v>Alm_SP_Qualidade</c:v>
                </c:pt>
                <c:pt idx="5">
                  <c:v>Alm_Paulista</c:v>
                </c:pt>
                <c:pt idx="6">
                  <c:v>Alm_PDV_Ativacao</c:v>
                </c:pt>
                <c:pt idx="7">
                  <c:v>Alm_Degustacao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3232.53</c:v>
                </c:pt>
                <c:pt idx="1">
                  <c:v>447.3</c:v>
                </c:pt>
                <c:pt idx="2">
                  <c:v>202</c:v>
                </c:pt>
                <c:pt idx="3">
                  <c:v>676.07</c:v>
                </c:pt>
                <c:pt idx="4">
                  <c:v>17.309999999999999</c:v>
                </c:pt>
                <c:pt idx="5">
                  <c:v>291.35000000000002</c:v>
                </c:pt>
                <c:pt idx="6">
                  <c:v>228.24</c:v>
                </c:pt>
                <c:pt idx="7">
                  <c:v>14.77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2B5-4E4E-B018-A00B7946DE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Urgente</c:v>
                </c:pt>
              </c:strCache>
            </c:strRef>
          </c:tx>
          <c:spPr>
            <a:solidFill>
              <a:srgbClr val="F1704B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Materia Prima</c:v>
                </c:pt>
                <c:pt idx="1">
                  <c:v>Produto em Processo</c:v>
                </c:pt>
                <c:pt idx="2">
                  <c:v>Produto Acabado</c:v>
                </c:pt>
                <c:pt idx="3">
                  <c:v>Material de Consumo</c:v>
                </c:pt>
                <c:pt idx="4">
                  <c:v>Mercadoria de Revenda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525.16999999999996</c:v>
                </c:pt>
                <c:pt idx="1">
                  <c:v>830.24</c:v>
                </c:pt>
                <c:pt idx="2">
                  <c:v>299.07</c:v>
                </c:pt>
                <c:pt idx="3">
                  <c:v>0</c:v>
                </c:pt>
                <c:pt idx="4">
                  <c:v>163.01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8DD-429B-88F8-61DBB319FB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Perigo</c:v>
                </c:pt>
              </c:strCache>
            </c:strRef>
          </c:tx>
          <c:spPr>
            <a:solidFill>
              <a:srgbClr val="F2C14E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Materia Prima</c:v>
                </c:pt>
                <c:pt idx="1">
                  <c:v>Produto em Processo</c:v>
                </c:pt>
                <c:pt idx="2">
                  <c:v>Produto Acabado</c:v>
                </c:pt>
                <c:pt idx="3">
                  <c:v>Material de Consumo</c:v>
                </c:pt>
                <c:pt idx="4">
                  <c:v>Mercadoria de Revenda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68251.95</c:v>
                </c:pt>
                <c:pt idx="1">
                  <c:v>3240.76</c:v>
                </c:pt>
                <c:pt idx="2">
                  <c:v>502.27</c:v>
                </c:pt>
                <c:pt idx="3">
                  <c:v>0</c:v>
                </c:pt>
                <c:pt idx="4">
                  <c:v>367.78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8DD-429B-88F8-61DBB319FB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Atenção</c:v>
                </c:pt>
              </c:strCache>
            </c:strRef>
          </c:tx>
          <c:spPr>
            <a:solidFill>
              <a:srgbClr val="2CC5A8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Materia Prima</c:v>
                </c:pt>
                <c:pt idx="1">
                  <c:v>Produto em Processo</c:v>
                </c:pt>
                <c:pt idx="2">
                  <c:v>Produto Acabado</c:v>
                </c:pt>
                <c:pt idx="3">
                  <c:v>Material de Consumo</c:v>
                </c:pt>
                <c:pt idx="4">
                  <c:v>Mercadoria de Revenda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324.77999999999997</c:v>
                </c:pt>
                <c:pt idx="1">
                  <c:v>850.42</c:v>
                </c:pt>
                <c:pt idx="2">
                  <c:v>1748.27</c:v>
                </c:pt>
                <c:pt idx="3">
                  <c:v>2186.58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8DD-429B-88F8-61DBB319F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4E8"/>
              </a:solidFill>
            </a:ln>
          </c:spPr>
        </c:majorGridlines>
        <c:numFmt formatCode="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Perda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invertIfNegative val="1"/>
          <c:dLbls>
            <c:numFmt formatCode="\R\$\ 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fev/26</c:v>
                </c:pt>
                <c:pt idx="1">
                  <c:v>mar/26</c:v>
                </c:pt>
                <c:pt idx="2">
                  <c:v>abr/26</c:v>
                </c:pt>
                <c:pt idx="3">
                  <c:v>mai/26</c:v>
                </c:pt>
                <c:pt idx="4">
                  <c:v>jun/26</c:v>
                </c:pt>
                <c:pt idx="5">
                  <c:v>jul/26</c:v>
                </c:pt>
                <c:pt idx="6">
                  <c:v>ago/26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3628.3</c:v>
                </c:pt>
                <c:pt idx="1">
                  <c:v>396.34</c:v>
                </c:pt>
                <c:pt idx="2">
                  <c:v>1532.69</c:v>
                </c:pt>
                <c:pt idx="3">
                  <c:v>1311.37</c:v>
                </c:pt>
                <c:pt idx="4">
                  <c:v>43.96</c:v>
                </c:pt>
                <c:pt idx="5">
                  <c:v>367.25</c:v>
                </c:pt>
                <c:pt idx="6">
                  <c:v>314.48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866-4DFE-AC01-5AF45786EA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Receita Recuperada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invertIfNegative val="1"/>
          <c:dLbls>
            <c:numFmt formatCode="\R\$\ 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fev/26</c:v>
                </c:pt>
                <c:pt idx="1">
                  <c:v>mar/26</c:v>
                </c:pt>
                <c:pt idx="2">
                  <c:v>abr/26</c:v>
                </c:pt>
                <c:pt idx="3">
                  <c:v>mai/26</c:v>
                </c:pt>
                <c:pt idx="4">
                  <c:v>jun/26</c:v>
                </c:pt>
                <c:pt idx="5">
                  <c:v>jul/26</c:v>
                </c:pt>
                <c:pt idx="6">
                  <c:v>ago/26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5148.6000000000004</c:v>
                </c:pt>
                <c:pt idx="3">
                  <c:v>6606.88</c:v>
                </c:pt>
                <c:pt idx="4">
                  <c:v>225.08</c:v>
                </c:pt>
                <c:pt idx="5">
                  <c:v>397.12</c:v>
                </c:pt>
                <c:pt idx="6">
                  <c:v>1292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866-4DFE-AC01-5AF45786EA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Saving Recuperado</c:v>
                </c:pt>
              </c:strCache>
            </c:strRef>
          </c:tx>
          <c:spPr>
            <a:solidFill>
              <a:srgbClr val="4E7F84"/>
            </a:solidFill>
            <a:ln>
              <a:noFill/>
            </a:ln>
          </c:spPr>
          <c:invertIfNegative val="1"/>
          <c:dLbls>
            <c:numFmt formatCode="\R\$\ 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fev/26</c:v>
                </c:pt>
                <c:pt idx="1">
                  <c:v>mar/26</c:v>
                </c:pt>
                <c:pt idx="2">
                  <c:v>abr/26</c:v>
                </c:pt>
                <c:pt idx="3">
                  <c:v>mai/26</c:v>
                </c:pt>
                <c:pt idx="4">
                  <c:v>jun/26</c:v>
                </c:pt>
                <c:pt idx="5">
                  <c:v>jul/26</c:v>
                </c:pt>
                <c:pt idx="6">
                  <c:v>ago/26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213.45</c:v>
                </c:pt>
                <c:pt idx="3">
                  <c:v>79.88</c:v>
                </c:pt>
                <c:pt idx="4">
                  <c:v>0</c:v>
                </c:pt>
                <c:pt idx="5">
                  <c:v>2528.91</c:v>
                </c:pt>
                <c:pt idx="6">
                  <c:v>384.63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866-4DFE-AC01-5AF45786EA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Perda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7066.17</c:v>
                </c:pt>
                <c:pt idx="1">
                  <c:v>17467.95</c:v>
                </c:pt>
                <c:pt idx="2">
                  <c:v>10856.87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0D2-4046-ABB8-94A485FDCD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Economia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3043.64</c:v>
                </c:pt>
                <c:pt idx="1">
                  <c:v>3734.75</c:v>
                </c:pt>
                <c:pt idx="2">
                  <c:v>3042.34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0D2-4046-ABB8-94A485FDCD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Impacto Líquido</c:v>
                </c:pt>
              </c:strCache>
            </c:strRef>
          </c:tx>
          <c:spPr>
            <a:solidFill>
              <a:srgbClr val="34436C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4022.54</c:v>
                </c:pt>
                <c:pt idx="1">
                  <c:v>13733.2</c:v>
                </c:pt>
                <c:pt idx="2">
                  <c:v>7814.52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0D2-4046-ABB8-94A485FDCD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Perda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Massa de Chocolate - Moju </c:v>
                </c:pt>
                <c:pt idx="1">
                  <c:v>Nibs de Cupuaçu - Sakaguch</c:v>
                </c:pt>
                <c:pt idx="2">
                  <c:v>Praliné de Avelã colagem</c:v>
                </c:pt>
                <c:pt idx="3">
                  <c:v>Massa de Chocolate - Vale </c:v>
                </c:pt>
                <c:pt idx="4">
                  <c:v>MANTEIGA DE CACAU desodori</c:v>
                </c:pt>
                <c:pt idx="5">
                  <c:v>Liquor de Cacau - Sakaguch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192.93</c:v>
                </c:pt>
                <c:pt idx="1">
                  <c:v>290.39999999999998</c:v>
                </c:pt>
                <c:pt idx="2">
                  <c:v>408.05</c:v>
                </c:pt>
                <c:pt idx="3">
                  <c:v>499.35</c:v>
                </c:pt>
                <c:pt idx="4">
                  <c:v>1942.44</c:v>
                </c:pt>
                <c:pt idx="5">
                  <c:v>4491.26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F09-4C94-A130-C2B6DFA109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rgbClr val="F9A825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4A4A4A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Polpa de Acerola</c:v>
                </c:pt>
                <c:pt idx="1">
                  <c:v>Laranja em tiras</c:v>
                </c:pt>
                <c:pt idx="2">
                  <c:v>Coco em lasca</c:v>
                </c:pt>
                <c:pt idx="3">
                  <c:v>Café Liofilizado</c:v>
                </c:pt>
                <c:pt idx="4">
                  <c:v>Cupuaçu Cristalizado</c:v>
                </c:pt>
                <c:pt idx="5">
                  <c:v>Massa de Chocolate Branco </c:v>
                </c:pt>
                <c:pt idx="6">
                  <c:v>Camu Camu liofilizado</c:v>
                </c:pt>
                <c:pt idx="7">
                  <c:v>Farinha Criscito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19.350000000000001</c:v>
                </c:pt>
                <c:pt idx="1">
                  <c:v>57.78</c:v>
                </c:pt>
                <c:pt idx="2">
                  <c:v>71.95</c:v>
                </c:pt>
                <c:pt idx="3">
                  <c:v>74.099999999999994</c:v>
                </c:pt>
                <c:pt idx="4">
                  <c:v>103.9</c:v>
                </c:pt>
                <c:pt idx="5">
                  <c:v>104.9</c:v>
                </c:pt>
                <c:pt idx="6">
                  <c:v>118.11</c:v>
                </c:pt>
                <c:pt idx="7">
                  <c:v>157.80000000000001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EC5-4318-BA8E-4AE8DC30F5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3172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MBR Executivo -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B1BFE2"/>
                </a:solidFill>
                <a:latin typeface="Arial"/>
              </a:defRPr>
            </a:pPr>
            <a:r>
              <a:t>Inteligência e controle operacional ·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E4E0D5"/>
                </a:solidFill>
                <a:latin typeface="Arial"/>
              </a:defRPr>
            </a:pPr>
            <a:r>
              <a:t>Agosto de 2026  ·  Gerado automaticamente pelo Atlas em 03/09/2026 17:53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SEÇÃO 1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rial"/>
              </a:defRPr>
            </a:pPr>
            <a:r>
              <a:t>Resumo Executivo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B1BFE2"/>
                </a:solidFill>
                <a:latin typeface="Arial"/>
              </a:defRPr>
            </a:pPr>
            <a:r>
              <a:t>Leitura consolidada do mês e status por frente monitorada.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NESTA SEÇÃO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461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Resumo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79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11879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Scorecard do 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B1BFE2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Controle operacional do estoque em números — o que mudou, o que exige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99,2%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IAP — ACURÁCIA POR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2E7D32"/>
                </a:solidFill>
                <a:latin typeface="Arial"/>
              </a:defRPr>
            </a:pPr>
            <a:r>
              <a:t>▲ 0,4% vs. mês anterior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R$ 4.843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BAIXAS POR PACOTE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3119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25,1% em Vencimento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R$ 79.290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4A4A4A"/>
                </a:solidFill>
                <a:latin typeface="Arial"/>
              </a:defRPr>
            </a:pPr>
            <a:r>
              <a:t>VALOR EM RISCO DE VALIDADE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108 lotes · 0 já vencidos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90,4%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CONTROLE DE MOVIMENTADOS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F9A825"/>
                </a:solidFill>
                <a:latin typeface="Arial"/>
              </a:defRPr>
            </a:pPr>
            <a:r>
              <a:t>Atenção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97480"/>
            <a:ext cx="11277295" cy="384048"/>
          </a:xfrm>
          <a:prstGeom prst="roundRect">
            <a:avLst>
              <a:gd name="adj" fmla="val 8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2697480"/>
            <a:ext cx="109481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>
                <a:solidFill>
                  <a:srgbClr val="4A4A4A"/>
                </a:solidFill>
                <a:latin typeface="Arial"/>
              </a:rPr>
              <a:t>▲ Maior avanço do mês: </a:t>
            </a:r>
            <a:r>
              <a:rPr sz="1150" b="1">
                <a:solidFill>
                  <a:srgbClr val="2E7D32"/>
                </a:solidFill>
                <a:latin typeface="Arial"/>
              </a:rPr>
              <a:t>Controle de Movimentados (+3,5%)</a:t>
            </a:r>
            <a:r>
              <a:rPr sz="1150" b="0">
                <a:solidFill>
                  <a:srgbClr val="4A4A4A"/>
                </a:solidFill>
                <a:latin typeface="Arial"/>
              </a:rPr>
              <a:t>     Passivos aprovados (fechamento nativo): </a:t>
            </a:r>
            <a:r>
              <a:rPr sz="1150" b="1">
                <a:solidFill>
                  <a:srgbClr val="2E7D32"/>
                </a:solidFill>
                <a:latin typeface="Arial"/>
              </a:rPr>
              <a:t>-R$ 78.087 vs.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2E7D32"/>
                </a:solidFill>
                <a:latin typeface="Arial"/>
              </a:defRPr>
            </a:pPr>
            <a:r>
              <a:t>AVANÇOS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75304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2E7D3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75304"/>
            <a:ext cx="340553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IAP (Acurácia por Valor) sobe de 75,4% em Janeiro de 2026 para 99,2% em Agosto de 2026 — +23,8% no período, melhora em 5 de 6 mês(es) monitorado(s). Curva de aprendizado consistente, não um pico isolado.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91902"/>
            <a:ext cx="34055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+ 2 adicional(is) — ver Scorecard.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2498" y="3246120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F9A825"/>
                </a:solidFill>
                <a:latin typeface="Arial"/>
              </a:defRPr>
            </a:pPr>
            <a:r>
              <a:t>ATENÇÕES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2498" y="3575304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F9A82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3666" y="3575304"/>
            <a:ext cx="340553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Item a item em 77,3% funciona como termômetro de disciplina de apontamento — não é mais o indicador oficial de acurácia (ver Acurácia Ponderada).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2498" y="4210613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F9A82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3666" y="4210613"/>
            <a:ext cx="340553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A leitura ponderada por valor (IAP) muda em 21,9% a foto do item-a-item — sinal de que o risco financeiro está concentrado em poucos SKUs, não de que o inventário piorou.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3666" y="5027212"/>
            <a:ext cx="34055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+ 2 adicional(is) — ver Scorecard.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7796" y="3246120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34436C"/>
                </a:solidFill>
                <a:latin typeface="Arial"/>
              </a:defRPr>
            </a:pPr>
            <a:r>
              <a:t>DECISÕES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7796" y="3575304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8964" y="3575304"/>
            <a:ext cx="340553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Priorizar consumo/transferência dos R$ 89.342 em lotes vencidos ou a vencer em até 90 dias (132 lotes).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264017"/>
            <a:ext cx="11277295" cy="1091062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373745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MENSAGEM CENTRAL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11489"/>
            <a:ext cx="10911535" cy="652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O mapeamento da operação mostra controle real do estoque, não percepção: 3 frente(s) em avanço e 4 de atenção neste mês, com as ações já priorizadas ao lado — inventário, passivos, validade e movimentação lidos juntos, pra agir antes que a atenção vire perda.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Scorecard do Mês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Leitura executiva e próximo passo por frente da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7729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1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Frente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Leitura Executiva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Próximo Passo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Painel de Inventário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Crítico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geral 77,3% sobre 710 itens avaliados.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Investigar SKUs recorrentes.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Baixas Operacionais (Pacote)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A825"/>
                          </a:solidFill>
                          <a:latin typeface="Arial"/>
                        </a:defRPr>
                      </a:pPr>
                      <a:r>
                        <a:t>Atenção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R$ 4.843 no período — 25,1% concentrado em Vencimento.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Investigar causa raiz da concentração antes do próximo fechamento.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Acurácia Ponderada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Em avanço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IAP (ponderado por valor) em 99,2%, 21,9% de distância do item-a-item.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Distorção sob controle — manter leitura mensal.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Shelf Life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9A825"/>
                          </a:solidFill>
                          <a:latin typeface="Arial"/>
                        </a:defRPr>
                      </a:pPr>
                      <a:r>
                        <a:t>Atenção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132 lote(s) em risco de validade, R$ 89.342 em valor exposto.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Priorizar consumo/transferência dos lotes vencidos ou a vencer em 30 dias.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Mapeamento de Risco (Obsolescência)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Crítico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29 item(ns) em risco de obsolescência, R$ 77.619 em valor exposto.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Priorizar ação comercial/promocional nos itens críticos (giro zero) antes que vençam.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Controle de Movimentados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Em avanço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da reconciliação diária em 90,4% — alta consistente desde Maio de 2026 (+24,3%).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Investigar itens com divergência não resolvida.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SEÇÃO 2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rial"/>
              </a:defRPr>
            </a:pPr>
            <a:r>
              <a:t>Inventários e Movimentados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B1BFE2"/>
                </a:solidFill>
                <a:latin typeface="Arial"/>
              </a:defRPr>
            </a:pPr>
            <a:r>
              <a:t>Acurácia de fechamento, ponderação por valor e reconciliação diária sistema x físico.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NESTA SEÇÃO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461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Acurácia Ponderada (IAP)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79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11879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Acurácia Ponderada (IAQ)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977639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Acurácia Ponderada — Concentração de Risco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34340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Acurácia Ponderada — Detalhamento por Faixa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0916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Inventário Item a 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0749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Controle de Movimentados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4068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Scorecard de Inventário por Almoxarifado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B1BFE2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Acurácia Ponderada — por Valor (IAP)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Leitura ponderada pelo valor financeiro do inventário, fechamento por almoxarifado e ranking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4E7F84"/>
                </a:solidFill>
                <a:latin typeface="Arial"/>
              </a:defRPr>
            </a:pPr>
            <a:r>
              <a:t>99,2%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IAP (POR VALOR)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R$ 4.733,51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4A4A4A"/>
                </a:solidFill>
                <a:latin typeface="Arial"/>
              </a:defRPr>
            </a:pPr>
            <a:r>
              <a:t>VALOR DO INVENTÁRIO EM JOGO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Valor Mod — sobra vs. falta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21,9%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DISTORÇÃO (ITEM VS. IAP)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+0,4%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VARIAÇÃO DO IAP (MOM)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2351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2E7D32"/>
                </a:solidFill>
                <a:latin typeface="Arial"/>
              </a:defRPr>
            </a:pPr>
            <a:r>
              <a:t>Melhora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42032"/>
            <a:ext cx="83512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EVOLUÇÃO MENSAL (MOM) — IAP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415" y="254203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2E7D32"/>
                </a:solidFill>
                <a:latin typeface="Arial"/>
              </a:defRPr>
            </a:pPr>
            <a:r>
              <a:t>▲ Tendência de melhora: +3,1 p.p./mês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7200" y="2779776"/>
          <a:ext cx="11277295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RESULTADO POR ALMOXARIFADO (IAP)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Almox.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IAP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Almox_SP_Ativacao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81,5%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Almox_SP_Loja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95,2%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-R$ 67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Almox_SP_Qualidade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97,2%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Almox_SP_Processo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97,6%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R$ 195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R$ 128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301642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TOP FALTAS DO MÊS (VALOR)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301642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0190213159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Ovo de Pá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-R$ 236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0020305008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-R$ 197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0140106004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Açúcar Demerara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-R$ 179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146084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TOP SOBRAS DO MÊS (VALOR)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146084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0260303001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+R$ 158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Flowpack LO Lei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9990117003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Cacau em Pó Alc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+R$ 141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57200" y="5294375"/>
            <a:ext cx="11277295" cy="96012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404103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RESUMO DA ACURÁCIA PONDERADA POR VALOR (IAP)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41847"/>
            <a:ext cx="10911535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O IAP fecha o mês em 99,2%, com melhora de 0,4% frente ao mês anterior e tendência linear de 3,1 p.p./mês no período — há R$ 4.734 em jogo entre sobra e falta (Valor Mod). O IAP pondera por valor financeiro — poucos itens de alto valor bastam pra manter o indicador alto mesmo com mais SKUs divergentes item a item. Almox_SP_Ativacao concentra o maior prejuízo ponderado por valor no período.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91072"/>
            <a:ext cx="1127729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00" b="0" i="1">
                <a:solidFill>
                  <a:srgbClr val="4A4A4A"/>
                </a:solidFill>
                <a:latin typeface="Arial"/>
              </a:defRPr>
            </a:pPr>
            <a:r>
              <a:t>IAP pondera cada divergência pelo valor financeiro do SKU. Ranking e resultado por almoxarifado cobrem só os itens da lista de concentração de valor (até 50 maiores por valor do mês).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Acurácia Ponderada — por Quantidade (IAQ)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Leitura ponderada pela quantidade de itens do inventário, fechamento por almoxarifado e ranking por unidades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99,0%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IAQ (POR QUANTIDADE)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ITENS DIVERGENTES 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21,6%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DISTORÇÃO (ITEM VS. IAQ)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-0,2%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VARIAÇÃO DO IAQ (MOM)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C62828"/>
                </a:solidFill>
                <a:latin typeface="Arial"/>
              </a:defRPr>
            </a:pPr>
            <a:r>
              <a:t>Piora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42032"/>
            <a:ext cx="83512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EVOLUÇÃO MENSAL (MOM) — IAQ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8415" y="254203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2E7D32"/>
                </a:solidFill>
                <a:latin typeface="Arial"/>
              </a:defRPr>
            </a:pPr>
            <a:r>
              <a:t>▲ Tendência de melhora: +3,7 p.p./mês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779776"/>
          <a:ext cx="11277295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RESULTADO POR ALMOXARIFADO (IAQ)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Almox.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IAQ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Almox_SP_Loja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89,5%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Almox_SP_Ativacao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92,3%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-R$ 480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Almox_SP_Processo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97,8%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R$ 195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Almox_PA_Para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98,5%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-R$ 269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98,9%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R$ 128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301642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TOP FALTAS DO MÊS (QTD.)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301642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Qtd.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-487 un.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9990712035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Bra PF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-198 un.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Lacre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-143 un.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9990712043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Branca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-120 un.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05104012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Bombom SF Leite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-47 un.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46084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TOP SOBRAS DO MÊS (QTD.)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146084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Qtd.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alto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+1.118 un.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+267 un.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+236 un.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0190213090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Flowpack LO Lei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+215 un.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Bra PF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+150 un.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57200" y="5294375"/>
            <a:ext cx="11277295" cy="96012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404103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RESUMO DA ACURÁCIA PONDERADA POR QUANTIDADE (IAQ)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7"/>
            <a:ext cx="10911535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O IAQ fecha o mês em 99,0%, com piora de 0,2% frente ao mês anterior — mesmo com tendência linear de 3,7 p.p./mês no período. Diferente do IAP, o IAQ pesa mais divergências em itens de giro alto e baixo valor unitário. Almox_SP_Loja concentra a maior perda em unidades no período.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91072"/>
            <a:ext cx="1127729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00" b="0" i="1">
                <a:solidFill>
                  <a:srgbClr val="4A4A4A"/>
                </a:solidFill>
                <a:latin typeface="Arial"/>
              </a:defRPr>
            </a:pPr>
            <a:r>
              <a:t>IAQ pondera cada divergência pela quantidade de itens do SKU (não pelo valor). Ranking por unidades calculado sobre os 50 maiores itens POR VALOR do mês — pode omitir um item de alto volume e baixo valor unitário fora dessa lista.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Acurácia Ponderada — Concentração de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Curva de Pareto — onde o valor em risco está concentrado neste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CONCENTRAÇÃO DE VALOR (CURVA DE PARETO) — TOP 20 SKUS + CAUDA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764792"/>
          <a:ext cx="11277295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502152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Os 20 maiores SKUs divergentes concentram 61,0% do valor em risco do mês (R$ 4.734 no total, 161 itens divergentes).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TOP 10 MAIORES EXEMPLOS DO MÊS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169663"/>
          <a:ext cx="11277292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2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1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3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33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9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Almox.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Qtd. Sist.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Qtd. Conf.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 Acum.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Povos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846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-487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0260303001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Moju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R$ 267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11,7%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Ovo de Páscoa 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Almox_Box_2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16,7%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0020305008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 M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Almox_SP_Processo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R$ 197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20,9%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0140106004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Açúcar Demerara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Almox_PA_Para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24,6%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05004149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Bombons G (30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Almox_SP_Ativacao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R$ 179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28,4%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Povos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1.245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1.512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31,8%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0190213090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Flowpack LO Leite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5.285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5.500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34,8%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4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9990117003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Cacau em Pó Alcalino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Almox_SP_Processo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37,8%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4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9990712030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PF Sak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1.293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1.529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R$ 139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40,7%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Acurácia Ponderada — Detalhamento por Faixa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Top 10 por valor dentro de cada faixa — onde o risco financeiro está dentro de cada grupo de tamanho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1127729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DISTRIBUIÇÃO POR MAGNITUDE DA DIVERGÊNCIA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682496"/>
          <a:ext cx="11277295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2532888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64,0% das divergências do mês são pequenas (0 a 5 unidades), mas a faixa "0 a 5 un." — 103 item(ns) — concentra o maior valor em risco (R$ 1.822). É esse contraste que a métrica item a item não mostra. Abaixo, o top 10 por valor dentro de cada faixa.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26958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2E7D32"/>
                </a:solidFill>
                <a:latin typeface="Arial"/>
              </a:defRPr>
            </a:pPr>
            <a:r>
              <a:t>0 A 5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269587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4A4A4A"/>
                </a:solidFill>
                <a:latin typeface="Arial"/>
              </a:defRPr>
            </a:pPr>
            <a:r>
              <a:t>103 itens · R$ 1.822 no total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154680"/>
          <a:ext cx="269587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81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Bombons G (30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Cacau em Pó Alcalino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Baunilha em Fava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- Sakagu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R$ 113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- Sakagu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R$ 98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Gotas de Chocolate ao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 de Cacau Seca 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R$ 50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Gotas de Moju Intenso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Xib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17671" y="2770632"/>
            <a:ext cx="26958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565C0"/>
                </a:solidFill>
                <a:latin typeface="Arial"/>
              </a:defRPr>
            </a:pPr>
            <a:r>
              <a:t>5 A 20 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7671" y="2990088"/>
            <a:ext cx="269587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4A4A4A"/>
                </a:solidFill>
                <a:latin typeface="Arial"/>
              </a:defRPr>
            </a:pPr>
            <a:r>
              <a:t>34 itens · R$ 1.186 no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317671" y="3154680"/>
          <a:ext cx="269587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81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Moju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 M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R$ 197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SSAL SIMPLES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MAGIO Povos Sakaguchi 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R$ 87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Barra ES Leite com 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Formigueiro Caramelo d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R$ 71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MAGIO Língua de Onça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MAGIO Língua de Onça I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MAGIO Lg de Onça Lt 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MAGIO Lg de Onça Lt Pr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R$ 35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78143" y="2770632"/>
            <a:ext cx="26958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9A825"/>
                </a:solidFill>
                <a:latin typeface="Arial"/>
              </a:defRPr>
            </a:pPr>
            <a:r>
              <a:t>20 A 100 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3" y="2990088"/>
            <a:ext cx="269587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4A4A4A"/>
                </a:solidFill>
                <a:latin typeface="Arial"/>
              </a:defRPr>
            </a:pPr>
            <a:r>
              <a:t>14 itens · R$ 615 no total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78143" y="3154680"/>
          <a:ext cx="269587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81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Ovo de Páscoa 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Açúcar Demerara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R$ 179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Povos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Povos 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Bombom SF Leite Pralin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Bombom Intenso Praliné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Bombom Mini Lua Cheia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Povos 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Bombom SF Leite Ganach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Bombom SF Castanha-do-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038615" y="2770632"/>
            <a:ext cx="269587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C62828"/>
                </a:solidFill>
                <a:latin typeface="Arial"/>
              </a:defRPr>
            </a:pPr>
            <a:r>
              <a:t>MAIS DE 100 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8615" y="2990088"/>
            <a:ext cx="269587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4A4A4A"/>
                </a:solidFill>
                <a:latin typeface="Arial"/>
              </a:defRPr>
            </a:pPr>
            <a:r>
              <a:t>10 itens · R$ 1.110 no total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038615" y="3154680"/>
          <a:ext cx="269587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81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Povos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Povos 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R$ 158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Flowpack LO Leite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 PF Sak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R$ 139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Bra PF Sakagu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Bra PF Sakagu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R$ 81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Branca PF Bom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Branca PF Kun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R$ 65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alto teor de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Lacre 1  - Ad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5495544"/>
            <a:ext cx="11277295" cy="77724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605272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RESUMO DO DETALHAMENTO POR FAIXA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43016"/>
            <a:ext cx="10911535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900" b="0" i="0">
                <a:solidFill>
                  <a:srgbClr val="4A4A4A"/>
                </a:solidFill>
                <a:latin typeface="Arial"/>
              </a:defRPr>
            </a:pPr>
            <a:r>
              <a:t>A faixa "0 a 5 un." concentra tanto o maior número de itens divergentes (103) quanto o maior valor em risco (R$ 1.822) neste recorte — sem o contraste de volume x valor que costuma aparecer entre faixas pequenas e grandes.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7729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00" b="0" i="1">
                <a:solidFill>
                  <a:srgbClr val="4A4A4A"/>
                </a:solidFill>
                <a:latin typeface="Arial"/>
              </a:defRPr>
            </a:pPr>
            <a:r>
              <a:t>Top 10 por valor calculado dentro de cada faixa (dashboard_itens_por_magnitude).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Inventário Item a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Acurácia geral, evolução mensal com tendência, resultado por almoxarifado e ranking financeiro — leitura item a item, apenas para conhecimento (a leitura ponderada IAP/IAQ é a referência do mês)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77,3%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ACURÁCIA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C62828"/>
                </a:solidFill>
                <a:latin typeface="Arial"/>
              </a:defRPr>
            </a:pPr>
            <a:r>
              <a:t>Crítico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710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ITENS AVALIADOS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ITENS DIVERGENTES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-R$ 1.121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RESULTADO LÍQUIDO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42032"/>
            <a:ext cx="83512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EVOLUÇÃO MENSAL (MOM) — ACURÁCIA E TENDÊNCIA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8415" y="254203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2E7D32"/>
                </a:solidFill>
                <a:latin typeface="Arial"/>
              </a:defRPr>
            </a:pPr>
            <a:r>
              <a:t>▲ Tendência de melhora: +8,8 p.p./mês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779776"/>
          <a:ext cx="11277295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RESULTADO POR ALMOXARIFADO (ACUR.)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Almox.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Acur.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Almox_SP_Loja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44,7%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Almox_SP_Ativacao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60,0%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-R$ 480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Almox_PA_Para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81,0%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Almox_SP_Processo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81,9%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R$ 195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83,9%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R$ 128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301642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TOP FALTAS DO MÊS (VALOR)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301642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0190213159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Ovo de Pá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-R$ 236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0020305008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-R$ 197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0140106004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Açúcar Demerara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-R$ 179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-R$ 179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46084" y="3785615"/>
            <a:ext cx="358841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34436C"/>
                </a:solidFill>
                <a:latin typeface="Arial"/>
              </a:defRPr>
            </a:pPr>
            <a:r>
              <a:t>TOP SOBRAS DO MÊS (VALOR)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146084" y="3986783"/>
          <a:ext cx="358840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0260303001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9990712026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+R$ 158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Flowpack LO Lei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9990117003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Cacau em Pó Alc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+R$ 141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9990712030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Etiqueta de dif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+R$ 139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57200" y="5294375"/>
            <a:ext cx="11277295" cy="96012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404103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RESUMO DO INVENTÁRIO ITEM A ITEM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7"/>
            <a:ext cx="10911535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O mês fecha com acurácia geral de 77,3% (crítico), em trajetória de melhora no período (tendência de 8,8 p.p./mês). Almox_SP_Loja tem a menor acurácia item a item do mês (44,7%) — maior prioridade de reconferência. O maior exemplo de falta é 9990712028 (Etiqueta de dif Povos Vale do , -R$ 287).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91072"/>
            <a:ext cx="1127729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00" b="0" i="1">
                <a:solidFill>
                  <a:srgbClr val="4A4A4A"/>
                </a:solidFill>
                <a:latin typeface="Arial"/>
              </a:defRPr>
            </a:pPr>
            <a:r>
              <a:t>"Resultado" por almoxarifado e os dois rankings cobrem só os itens da lista de concentração de valor (até 50 maiores por valor do mês).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Controle de Movimentados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Reconciliação diária (sistema x físico) — impacto na acurácia desde a implantação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1.247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ITENS ANALISADOS NO MÊS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90,4%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ACURÁCIA DA RECONCILIAÇÃO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F9A825"/>
                </a:solidFill>
                <a:latin typeface="Arial"/>
              </a:defRPr>
            </a:pPr>
            <a:r>
              <a:t>Atenção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ITENS COM DIVERGÊNCIA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+24,4%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GANHO DESDE A IMPLANTAÇÃO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ACURÁCIA DA RECONCILIAÇÃO — DESDE A IMPLANTAÇÃO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3063240"/>
          <a:ext cx="68580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635240" y="2788920"/>
            <a:ext cx="4099255" cy="219456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19" y="2898648"/>
            <a:ext cx="373349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IMPACTO DA IMPLANTAÇÃO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3136391"/>
            <a:ext cx="3733495" cy="1755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Desde a implantação do Controle de Movimentados, em Maio de 2026, a acurácia da reconciliação diária subiu de 66,0% para 90,4% — um ganho de 24,4%. Esse é o efeito direto de passar a reconciliar o livro-caixa bruto todo dia, em vez de só no fechamento periódico.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29784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RESULTADO POR ALMOXARIFADO (MOVIMENTADOS)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5349240"/>
          <a:ext cx="11277293" cy="1135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7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7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7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3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9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Almoxarifado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Itens Analisados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Itens c/ Divergência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Acurácia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Almox_SP_Qualidade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66,7%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Almox_PA_Para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81,8%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Almox_SP_Fabrica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9A825"/>
                          </a:solidFill>
                          <a:latin typeface="Arial"/>
                        </a:defRPr>
                      </a:pPr>
                      <a:r>
                        <a:t>88,8%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943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Almox_SP_Processo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556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9A825"/>
                          </a:solidFill>
                          <a:latin typeface="Arial"/>
                        </a:defRPr>
                      </a:pPr>
                      <a:r>
                        <a:t>93,0%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Scorecard de Inventário — por Almoxarifado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Evolução vs. o mês anterior e plano de ação por almoxarifado, cruzando fechamento e Controle de Movimentados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7729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3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7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Almoxarifado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Leitura Executiva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Próximo Passo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Box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Involução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88,0% (-5,8% vs. mês anterior) · Movimentados: não aplicável a este almoxarifado · IAP 99,4%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Investigar causa raiz das divergências recorrentes de fechamento neste almoxarifado.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Ativação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Involução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60,0% (-34,4% vs. mês anterior) · Movimentados: não aplicável a este almoxarifado · IAP 81,5%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Investigar causa raiz das divergências recorrentes de fechamento neste almoxarifado.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Loja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Involução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44,7% (-24,0% vs. mês anterior) · Movimentados: não aplicável a este almoxarifado · IAP 95,2%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Investigar causa raiz das divergências recorrentes de fechamento neste almoxarifado.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Qualidade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Involução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84,0% (-1,0% vs. mês anterior) · Movimentados 66,7% (-33,3%) · IAP 97,2%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Reconferência prioritária: acurácia e conciliação de movimentados pioraram juntas neste almoxarifado.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Degustação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E9E9E"/>
                          </a:solidFill>
                          <a:latin typeface="Arial"/>
                        </a:defRPr>
                      </a:pPr>
                      <a:r>
                        <a:t>Sem histórico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— · Movimentados: não aplicável a este almoxarifado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histórico suficiente ainda — acompanhar a partir do próximo fechamento.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Patio Paulista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E9E9E"/>
                          </a:solidFill>
                          <a:latin typeface="Arial"/>
                        </a:defRPr>
                      </a:pPr>
                      <a:r>
                        <a:t>Sem histórico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— · Movimentados —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histórico suficiente ainda — acompanhar a partir do próximo fechamento.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Box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Evolução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100,0% (+11,1% vs. mês anterior) · Movimentados: não aplicável a este almoxarifado · IAP 100,0%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Manter a cadência atual de fechamento e conciliação — sem sinal de piora no mês.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Pará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Evolução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81,0% (+24,7% vs. mês anterior) · Movimentados 81,8% (+56,8%) · IAP 99,7%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Intensificar a cadência de conferência até a acurácia voltar pra faixa saudável.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Fábrica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Evolução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83,9% (+11,5% vs. mês anterior) · Movimentados 88,8% (+1,4%) · IAP 99,3%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Intensificar a cadência de conferência até a acurácia voltar pra faixa saudável.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Processo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Evolução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Acurácia 81,9% (+7,9% vs. mês anterior) · Movimentados 93,0% (+5,8%) · IAP 97,6%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Intensificar a cadência de conferência até a acurácia voltar pra faixa saudável.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SEÇÃO 3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rial"/>
              </a:defRPr>
            </a:pPr>
            <a:r>
              <a:t>Mapeamento de Riscos e Passivos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B1BFE2"/>
                </a:solidFill>
                <a:latin typeface="Arial"/>
              </a:defRPr>
            </a:pPr>
            <a:r>
              <a:t>Passivos e baixas (fonte oficial: dashboards externos aprovados), validade de lotes, recuperação de shelf, dispersão de ficha técnica, FEFO e Testes Industriais.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NESTA SEÇÃO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461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Dashboard Baixas Operacionais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79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11879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Controle de Pacotes de Baixa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977639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Farol de Shelf-Life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34340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Recuperação de Shelf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0916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Dispersão de Ficha Técnica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0749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Testes Industriais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4068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FEFO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80644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Constância e Disciplina — Diário de Bordo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B1BFE2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Dashboard </a:t>
            </a:r>
            <a:r>
              <a:rPr sz="2400" dirty="0" err="1"/>
              <a:t>Baixas</a:t>
            </a:r>
            <a:r>
              <a:rPr sz="2400" dirty="0"/>
              <a:t> </a:t>
            </a:r>
            <a:r>
              <a:rPr sz="2400" dirty="0" err="1"/>
              <a:t>Operacionais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Retrato do período — fonte oficial de Baixas/Passivos no MBR (dashboard externo, modelo aprovado)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R$ 4.843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PREJUÍZO TOTAL NO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25,1%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CONCENTRADO EM VENCIMENTO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Alm_SP_Loja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SETOR DE MAIOR IMPACTO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Produto Acabado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GRUPO DE MAIOR IMPACTO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57200" y="2121408"/>
          <a:ext cx="11277295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3995928"/>
            <a:ext cx="54786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TOP BAIXAS POR SKU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215384"/>
          <a:ext cx="5478625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7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Ranking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Baixas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Classif.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9990111048 - Café organi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R$ 598,88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Controlado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05004149 - Caixa de Bomb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R$ 362,64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Investimento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999011184 - Maracujá Lio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R$ 253,83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05004058 - Barra ES Inte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R$ 238,42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Investimento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0190213129 - Caixa SSAL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R$ 207,00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Controlado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79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0440101001 - amendoas de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R$ 179,40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Controlado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55867" y="3995928"/>
            <a:ext cx="54786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BAIXAS POR MOTIVO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55867" y="4215384"/>
          <a:ext cx="5478626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7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Motivo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por Motivo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Classif. Prejuízo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Uso e Consumo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R$ 1.229,37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25.38%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Controlado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R$ 1.216,84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25.13%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Operacional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Sensorial/Inovações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R$ 859,86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17.75%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Degustação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R$ 666,08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13.75%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Investimento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Avaria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R$ 435,93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Operacional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79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Descarte/Qualidade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R$ 371,06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7.66%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Operacional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61264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Cartões: retrato do período 2026-08-01 a 2026-08-31, exportado em 02/09/2026, 09:05:43 · por mauricio.alves@magiochocolates.com.br. Gráfico: histórico mensal completo do export (janela mais longa) — os dois totais não baterem entre si é esperado, não é inconsistência.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Controle de Pacotes de Baixa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Evolução mensal (MoM) desde janeiro — tom cheio marca a padronização da baixa fiscal a partir de julho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89888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R$ 86.490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50" b="1" i="0">
                <a:solidFill>
                  <a:srgbClr val="4A4A4A"/>
                </a:solidFill>
                <a:latin typeface="Arial"/>
              </a:defRPr>
            </a:pPr>
            <a:r>
              <a:t>PASSIVO ACUMULADO (DESDE JUL.)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389 baixa(s) aprovada(s)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1389888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3119" y="1463040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R$ 6.300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50" b="1" i="0">
                <a:solidFill>
                  <a:srgbClr val="4A4A4A"/>
                </a:solidFill>
                <a:latin typeface="Arial"/>
              </a:defRPr>
            </a:pPr>
            <a:r>
              <a:t>RESULTADO INVENTÁRIO ACUMULADO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3119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188 entrada(s) · 344 saída(s)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389888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2735" y="1463040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565C0"/>
                </a:solidFill>
                <a:latin typeface="Arial"/>
              </a:defRPr>
            </a:pPr>
            <a:r>
              <a:t>R$ 80.190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DIFERENÇA ACUMULADA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4A4A4A"/>
                </a:solidFill>
                <a:latin typeface="Arial"/>
              </a:defRPr>
            </a:pPr>
            <a:r>
              <a:t>baixa aprovada acima da perda física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1389888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2351" y="1463040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-R$ 838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4A4A4A"/>
                </a:solidFill>
                <a:latin typeface="Arial"/>
              </a:defRPr>
            </a:pPr>
            <a:r>
              <a:t>RESULTADO INVENT. — AGO/26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Passivo no mês: R$ 4.202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066543"/>
            <a:ext cx="6537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EVOLUÇÃO MENSAL (MoM) — PASSIVOS × RESULTADO DE INVENTÁRIO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885620"/>
              </p:ext>
            </p:extLst>
          </p:nvPr>
        </p:nvGraphicFramePr>
        <p:xfrm>
          <a:off x="457200" y="2267712"/>
          <a:ext cx="732282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3767327"/>
            <a:ext cx="6537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00" b="0" i="1">
                <a:solidFill>
                  <a:srgbClr val="4A4A4A"/>
                </a:solidFill>
                <a:latin typeface="Arial"/>
              </a:defRPr>
            </a:pPr>
            <a:r>
              <a:t>Tom claro = antes da padronização da baixa fiscal · tom cheio = a partir de Jul/26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4878" y="2066543"/>
            <a:ext cx="286961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rPr dirty="0"/>
              <a:t>IMPACTO POR ALMOXARIFADO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375834"/>
              </p:ext>
            </p:extLst>
          </p:nvPr>
        </p:nvGraphicFramePr>
        <p:xfrm>
          <a:off x="8001000" y="2267712"/>
          <a:ext cx="3733495" cy="1609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4023360"/>
            <a:ext cx="547862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34436C"/>
                </a:solidFill>
                <a:latin typeface="Arial"/>
              </a:defRPr>
            </a:pPr>
            <a:r>
              <a:t>TOP 10 BAIXAS DO PERÍODO (POR SKU)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4224528"/>
          <a:ext cx="5478625" cy="1584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0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68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Qtd.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0020303003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- Mocajuba (PA)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R$ 41.506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0110303003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- Acará-Açu (PA)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R$ 35.343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0010303003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- Xiba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0190213106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Sacolas de papel tamanho M (32A x 23L)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R$ 728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9990111048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Café organico em graos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R$ 599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68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0190213105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Sacolas de papel tamanho P (24A x 16L)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R$ 456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255867" y="4023360"/>
            <a:ext cx="547862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34436C"/>
                </a:solidFill>
                <a:latin typeface="Arial"/>
              </a:defRPr>
            </a:pPr>
            <a:r>
              <a:t>TOP 10 JUSTIFICATIVAS — AJUSTE DE PROCESSO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255867" y="4224528"/>
          <a:ext cx="5478625" cy="1584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7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68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SKU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Almox.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Justificativa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Fábrica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Pedido de Compra Pendente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R$ 47.560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0190213131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Fábrica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 Divergência Real (Falso Positivo)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R$ 9.444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02002160121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Fábrica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Erro Operacional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R$ 9.031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05004006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Fábrica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Transferência Pendente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R$ 1.523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681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Processo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Transferência Pendente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R$ 1.095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68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05004139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Processo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Transferência Pendente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R$ 1.095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57200" y="5833872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2E7D32"/>
                </a:solidFill>
                <a:latin typeface="Arial"/>
              </a:defRPr>
            </a:pPr>
            <a:r>
              <a:t>Desde julho, o controle já evitou registrar R$ 80.968 como perda real — 104 baixa(s) reclassificada(s) como ajuste de processo (erro de cadastro/contagem, timing de nota fiscal ou produção não encerrada, entre outros). A baixa já aprovada segue R$ 80.190 acima da perda física medida pelo inventário — o controle está à frente do fechamento físico.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63056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baixas operacionais aprovadas, ajustes de inventário oficiais e divergências resolvidas no banco do Atlas — janela de julho de 2026 até agosto de 2026 (mesma categorização do Mapeamento de Passivos).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Farol de Shelf-Life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Retrato do estoque em risco de validade — dados reais do dashboard de Farol de Shelf-Life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7B3B2E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LOTES JÁ VENCIDOS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7B3B2E"/>
                </a:solidFill>
                <a:latin typeface="Arial"/>
              </a:defRPr>
            </a:pPr>
            <a:r>
              <a:t>R$ 0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1704B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0-30 DIAS (URGENTE)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3119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F1704B"/>
                </a:solidFill>
                <a:latin typeface="Arial"/>
              </a:defRPr>
            </a:pPr>
            <a:r>
              <a:t>R$ 1.817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2C14E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31-60 DIAS (PERIGO)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F2C14E"/>
                </a:solidFill>
                <a:latin typeface="Arial"/>
              </a:defRPr>
            </a:pPr>
            <a:r>
              <a:t>R$ 72.364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CC5A8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61-90 DIAS (ATENÇÃO)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2CC5A8"/>
                </a:solidFill>
                <a:latin typeface="Arial"/>
              </a:defRPr>
            </a:pPr>
            <a:r>
              <a:t>R$ 5.110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57200" y="2286000"/>
          <a:ext cx="5455767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278727" y="2286000"/>
          <a:ext cx="5455767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4482388"/>
            <a:ext cx="357621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1704B"/>
                </a:solidFill>
                <a:latin typeface="Arial"/>
              </a:defRPr>
            </a:pPr>
            <a:r>
              <a:t>0-30 DIAS — URGENTE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4701844"/>
          <a:ext cx="3576218" cy="172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1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-AO LEI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R$ 799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 de Cacau Seca Apro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R$ 195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Gema de ovo pasteurizada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Pão de queijo 70 gr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R$ 131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19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Trufas Nativas de Chocolat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6485839"/>
            <a:ext cx="357621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1" i="0">
                <a:solidFill>
                  <a:srgbClr val="4A4A4A"/>
                </a:solidFill>
                <a:latin typeface="Arial"/>
              </a:defRPr>
            </a:pPr>
            <a:r>
              <a:t>Total: R$ 1.817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7738" y="4482388"/>
            <a:ext cx="357621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2C14E"/>
                </a:solidFill>
                <a:latin typeface="Arial"/>
              </a:defRPr>
            </a:pPr>
            <a:r>
              <a:t>31-60 DIAS — PERIGO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307738" y="4701844"/>
          <a:ext cx="3576218" cy="172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1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R$ 51.989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 de Cacau Seca Apro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R$ 13.777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Nibs de Cacau - Vale do 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R$ 3.221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Biscoito de castanha do Pa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R$ 2.133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19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Xerem de Castanha de Caju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307738" y="6485839"/>
            <a:ext cx="357621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1" i="0">
                <a:solidFill>
                  <a:srgbClr val="4A4A4A"/>
                </a:solidFill>
                <a:latin typeface="Arial"/>
              </a:defRPr>
            </a:pPr>
            <a:r>
              <a:t>Total: R$ 72.364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8276" y="4482388"/>
            <a:ext cx="357621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2CC5A8"/>
                </a:solidFill>
                <a:latin typeface="Arial"/>
              </a:defRPr>
            </a:pPr>
            <a:r>
              <a:t>61-90 DIAS — ATENÇÃO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158276" y="4701844"/>
          <a:ext cx="3576218" cy="172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1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Kalyclean N 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R$ 2.187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Língua de Onça Intenso Zer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R$ 566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 Choco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18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Leite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R$ 324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19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Língua de Onça ao Leite 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R$ 260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158276" y="6485839"/>
            <a:ext cx="357621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1" i="0">
                <a:solidFill>
                  <a:srgbClr val="4A4A4A"/>
                </a:solidFill>
                <a:latin typeface="Arial"/>
              </a:defRPr>
            </a:pPr>
            <a:r>
              <a:t>Total: R$ 5.110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Recuperação de Shelf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Retrato do período — dados reais do dashboard de Recuperação de Shelf (perda × recuperação por ações de lote)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R$ 13.670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RECEITA RECUPERADA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R$ 16.877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PERDA EVITADA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R$ 7.594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PERDA REAL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R$ 5.385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SAVING RECUPERADO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57200" y="1997964"/>
          <a:ext cx="11277295" cy="2040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026103"/>
            <a:ext cx="547862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TOP 10 RECUPERADOS — AÇÃO E RESULTADO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263847"/>
          <a:ext cx="5478627" cy="245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4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Ações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Recuperado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Bombons G (30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Desconto Colaborador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R$ 3.541,58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R$ 4.798,08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Bombons M (14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Desconto Colaborador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R$ 1.669,67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R$ 0,00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R$ 3.533,28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Barra 60g Terroir da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Outro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R$ 1.053,09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R$ 1.053,09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R$ 1.053,09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Pão de queijo da canas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Outro, Degustação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R$ 935,87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R$ 935,87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R$ 935,87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Sorvete de Chocolate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Desconto Colaborador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R$ 752,00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R$ 695,64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3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Língua de Onça Cupulat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Desconto Colaborador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R$ 98,37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R$ 0,00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R$ 594,00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55867" y="4026103"/>
            <a:ext cx="547862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TOP 10 PERDA — MOTIVO E RESULTADO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55867" y="4263847"/>
          <a:ext cx="5478626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42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Produto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Motivo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Baixas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Qtd.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Perda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Liquor de Cacau - Saka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R$ 3.187,80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Bombons M (14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R$ 797,60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Baunilha em Fava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0,189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R$ 699,67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Bolo de Chocolate Loja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2,366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R$ 323,11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27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Xerem de Castanha de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5,25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R$ 314,48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3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Sorbato de Potássio Gr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3,474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R$ 294,55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Dispersão de Ficha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Ficha Técnica × Consumo real por Ordem de Produção — filtrado pelo mês deste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265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OPS ANALISADAS NO MÊS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61,1%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TAXA DE FURO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R$ 7.815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750" b="1" i="0">
                <a:solidFill>
                  <a:srgbClr val="4A4A4A"/>
                </a:solidFill>
                <a:latin typeface="Arial"/>
              </a:defRPr>
            </a:pPr>
            <a:r>
              <a:t>IMPACTO LÍQUIDO (PERDA − ECONOMIA)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125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OPS CRÍTICAS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TENDÊNCIA FINANCEIRA — PERDA × ECONOMIA × IMPACTO LÍQUIDO (R$/MÊS)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2907792"/>
          <a:ext cx="11277295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4370832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MATERIAIS COM MAIOR PERDA NO MÊS (R$)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4626864"/>
          <a:ext cx="5760720" cy="117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537959" y="4370832"/>
            <a:ext cx="519653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MATERIAIS COM MAIOR ECONOMIA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37959" y="4626864"/>
          <a:ext cx="5196534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5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Material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Economia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-AO 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R$ 1.285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 Cho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R$ 425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5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Fundo Caixa 14 bombons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5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Semente de Cumaru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R$ 135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5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Plastico termoformavel 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51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Cupuaçu - Sakag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R$ 117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Fonte: dashboard Dispersão de Ficha Técnica (Auditoria &gt; Outros Dashboards), enviado em 01/09/2026 14:20 — Materiais crônicos (≥ 5 OPs): 21 · Concentração Top 20: 83,0% do impacto absoluto.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Testes Industriais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Dados reais do dashboard de Controle de Testes Industriais — filtrado pelo mês deste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ITENS CONSUMIDOS NO MÊS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R$ 777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GASTO TOTAL 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OPS TESTADAS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R$ 259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CUSTO MÉDIO POR 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31720"/>
            <a:ext cx="1127729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9A825"/>
                </a:solidFill>
                <a:latin typeface="Arial"/>
              </a:defRPr>
            </a:pPr>
            <a:r>
              <a:t>Obs.: 1 item(ns) consumido(s) no mês sem custo cadastrado foram excluídos deste total — confira o cadastro de custo desses materiais.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1127729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MATÉRIAS-PRIMAS COM MAIOR CUSTO NO MÊS (R$)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3063240"/>
          <a:ext cx="1127729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Fonte: dashboard de Controle de Testes Industriais (Auditoria &gt; Outros Dashboards), enviado em 01/09/2026 15:04.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FEFO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Dados reais da Auditoria FEFO importada — filtrado pelo mês deste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565C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1" i="0">
                <a:solidFill>
                  <a:srgbClr val="4A4A4A"/>
                </a:solidFill>
                <a:latin typeface="Arial"/>
              </a:defRPr>
            </a:pPr>
            <a:r>
              <a:t>MOVIMENTOS AUDITÁVEIS NO MÊS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QUEBRAS DE FEFO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0,0%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19072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TAXA DE QUEBRA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1865376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2E7D32"/>
                </a:solidFill>
                <a:latin typeface="Arial"/>
              </a:defRPr>
            </a:pPr>
            <a:r>
              <a:t>Em avanço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4A4A4A"/>
                </a:solidFill>
                <a:latin typeface="Arial"/>
              </a:defRPr>
            </a:pPr>
            <a:r>
              <a:t>SEM CORRESPONDÊNCIA NO MÊS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88920"/>
            <a:ext cx="5760720" cy="233172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898648"/>
            <a:ext cx="539495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PRODUTOS COM MAIS QUEBRAS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36391"/>
            <a:ext cx="5394959" cy="1892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Nenhuma quebra registrada neste mês.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788920"/>
            <a:ext cx="5196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QUEBRAS POR DESTINO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59" y="3063240"/>
            <a:ext cx="5196535" cy="205740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3172968"/>
            <a:ext cx="483077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POR DESTINO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10712"/>
            <a:ext cx="4830775" cy="1618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Sem dados de destino neste mês.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Fonte: Auditoria FEFO importada (tela FEFO), origem no mês: dashboard consolidado — 6 movimento(s) sem correspondência neste mês não entram na taxa de quebra.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3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SEÇÃO 4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rial"/>
              </a:defRPr>
            </a:pPr>
            <a:r>
              <a:t>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B1BFE2"/>
                </a:solidFill>
                <a:latin typeface="Arial"/>
              </a:defRPr>
            </a:pPr>
            <a:r>
              <a:t>Cobertura de processos hoje e melhorias esperadas com o uso contínuo da ferramenta.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1BFE2"/>
                </a:solidFill>
                <a:latin typeface="Arial"/>
              </a:defRPr>
            </a:pPr>
            <a:r>
              <a:t>NESTA SEÇÃO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4612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Impacto do 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79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11879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Constância e Disciplina — Diário de Bordo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977639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Atlas + Stock Savvy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34340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Módulos Recentes do Stock Savvy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1BFE2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09160"/>
            <a:ext cx="110212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Próximos Passos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B1BFE2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Impacto do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Mapeamento completo dos processos monitorados e ganhos mensuráveis com o uso contínuo da ferramenta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700" b="1" i="0">
                <a:solidFill>
                  <a:srgbClr val="4A4A4A"/>
                </a:solidFill>
                <a:latin typeface="Arial"/>
              </a:defRPr>
            </a:pPr>
            <a:r>
              <a:t>FRENTES NATIVAS MAPEADAS PELO ATLAS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700" b="1" i="0">
                <a:solidFill>
                  <a:srgbClr val="4A4A4A"/>
                </a:solidFill>
                <a:latin typeface="Arial"/>
              </a:defRPr>
            </a:pPr>
            <a:r>
              <a:t>CONTROLES PARALELOS INTEGRADOS AO MBR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+24,4%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4A4A4A"/>
                </a:solidFill>
                <a:latin typeface="Arial"/>
              </a:defRPr>
            </a:pPr>
            <a:r>
              <a:t>GANHO DE ACURÁCIA (MOVIMENTADOS)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R$ 171.163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00" b="1" i="0">
                <a:solidFill>
                  <a:srgbClr val="4A4A4A"/>
                </a:solidFill>
                <a:latin typeface="Arial"/>
              </a:defRPr>
            </a:pPr>
            <a:r>
              <a:t>VALOR SOB VISIBILIDADE 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COBERTURA DE PROCESSOS HOJE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4E7F8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08960"/>
            <a:ext cx="5559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Painel de Inventário — fechamento por almoxarifado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19856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4E7F8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19856"/>
            <a:ext cx="5559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Acurácia Ponderada por Valor (IAP)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30752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4E7F8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730752"/>
            <a:ext cx="5559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Mapeamento de Passivos e Baixas Operacionais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41648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4E7F8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041648"/>
            <a:ext cx="5559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Shelf Life — Farol de Validade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52544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4E7F8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52544"/>
            <a:ext cx="5559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Mapeamento de Risco de Obsolescência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4E7F8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663440"/>
            <a:ext cx="5559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Controle de Movimentados — reconciliação diária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74336"/>
            <a:ext cx="16459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4E7F8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974336"/>
            <a:ext cx="5559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7 controle(s) paralelo(s) da equipe já lido(s) automaticamente do arquivo exportado.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59" y="2788920"/>
            <a:ext cx="5196535" cy="306324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2898648"/>
            <a:ext cx="483077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MELHORIAS PREVISTAS COM O USO CONTÍNUO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136391"/>
            <a:ext cx="4830775" cy="2624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Desde a implantação do Controle de Movimentados, em Maio de 2026, a acurácia da reconciliação diária avançou 24,4% — mesma lógica de leitura contínua que hoje também sustenta Shelf Life, Mapeamento de Risco de Obsolescência e os controles paralelos integrados neste relatório. Quanto mais meses de uso contínuo, mais preciso o histórico e mais cedo cada divergência aparece — o próximo ganho esperado é reduzir o tempo entre a divergência ocorrer e ela ser tratada, hoje limitado pela cadência de conferência manual.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1">
                <a:solidFill>
                  <a:srgbClr val="4A4A4A"/>
                </a:solidFill>
                <a:latin typeface="Arial"/>
              </a:defRPr>
            </a:pPr>
            <a:r>
              <a:t>Cobertura e integrações medidas neste relatório — não é uma projeção genérica: cada número acima vem dos mesmos dados que alimentam as telas do Atlas no dia a dia.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Constância e Disciplina — Diário de Bordo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Indicador paralelo: cumprimento da Rotina Master em dias úteis do mês (fins de semana não têm rotina devida)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88,0%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CUMPRIMENTO GERAL DO MÊS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254/290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1" i="0">
                <a:solidFill>
                  <a:srgbClr val="4A4A4A"/>
                </a:solidFill>
                <a:latin typeface="Arial"/>
              </a:defRPr>
            </a:pPr>
            <a:r>
              <a:t>ROTINAS CUMPRIDAS / DEVIDAS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88,0%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CONCLUSÕES NO PRAZO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12,0%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CONCLUSÕES EM ATRASO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6492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EVOLUÇÃO SEMANAL DE CUMPRIMENTO (DIAS ÚTEIS)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6492240" cy="274320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218688"/>
            <a:ext cx="612647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EVOLUÇÃO SEMANAL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56432"/>
            <a:ext cx="6126479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A extração automática deste indicador traz só os KPIs de topo do export — quebra semanal e sequência/lapsos por dia útil ainda dependem de coleta manual complementar na Rotina Master.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79" y="2788920"/>
            <a:ext cx="4465015" cy="306324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59" y="2898648"/>
            <a:ext cx="40992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LEITURA EXECUTIVA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3136391"/>
            <a:ext cx="4099255" cy="2624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Cumprimento geral do mês: 88,0% (254 de 290 rotinas), sendo 88,0% concluídas no prazo e 12,0% em atraso. Extraído automaticamente do Dashboard de Performance da Rotina Master — ainda não traz sequência/lapsos por dia útil nem quebra semanal; pra esse detalhe é necessária uma coleta manual complementar.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1">
                <a:solidFill>
                  <a:srgbClr val="4A4A4A"/>
                </a:solidFill>
                <a:latin typeface="Arial"/>
              </a:defRPr>
            </a:pPr>
            <a:r>
              <a:t>Extraído automaticamente do Dashboard de Performance da Rotina Master (rotinabusiness.lovable.app), enviado em Auditoria &gt; Outros Dashboards em 02/09/2026 11:59 — período do export: 01/08/26 a 31/08/26.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Atlas +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Dois sistemas, duas camadas de controle — por que manter os dois é o que dá robustez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78627" cy="288036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11286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STOCK SAVVY — CAMADA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5112867" cy="2441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250" b="0" i="0">
                <a:solidFill>
                  <a:srgbClr val="4A4A4A"/>
                </a:solidFill>
                <a:latin typeface="Arial"/>
              </a:defRPr>
            </a:pPr>
            <a:r>
              <a:t>Onde a ação acontece, dia a dia, no chão de fábrica e na loja: solicitar uma baixa escaneando o QR do lote, aprovar com assinatura dupla (Diretor de Operações + Coordenador Financeiro), registrar uma ação de recuperação de lote (desconto, doação, anúncio) e acompanhar seu custo e retorno em tempo real. É o sistema de registro e rastreabilidade — cada baixa, cada ação de lote, cada auditoria de ficha técnica nasce lá.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417320"/>
            <a:ext cx="5478627" cy="288036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8747" y="1527048"/>
            <a:ext cx="511286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ATLAS — CAMADA DE INTELIGÊNCIA EXECUTIVA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747" y="1764792"/>
            <a:ext cx="5112867" cy="2441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250" b="0" i="0">
                <a:solidFill>
                  <a:srgbClr val="4A4A4A"/>
                </a:solidFill>
                <a:latin typeface="Arial"/>
              </a:defRPr>
            </a:pPr>
            <a:r>
              <a:t>Onde as frentes se cruzam: Inventário, Movimentados, FEFO, Shelf Life, Passivos e os controles paralelos da equipe (incluindo os exports do próprio Stock Savvy) chegam num único relatório mensal, com histórico real, evolução mês a mês e plano de ação por frente e por almoxarifado — não um retrato isolado de um módulo, e sim a leitura de como a operação inteira está andando.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80"/>
            <a:ext cx="11277295" cy="190500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63600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2E7D32"/>
                </a:solidFill>
                <a:latin typeface="Arial"/>
              </a:defRPr>
            </a:pPr>
            <a:r>
              <a:t>POR QUE MANTER OS DOIS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73752"/>
            <a:ext cx="10911535" cy="1466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250" b="0" i="0">
                <a:solidFill>
                  <a:srgbClr val="4A4A4A"/>
                </a:solidFill>
                <a:latin typeface="Arial"/>
              </a:defRPr>
            </a:pPr>
            <a:r>
              <a:t>Um sem o outro deixa uma lacuna real: só Stock Savvy dá execução granular e rastreável, mas sem visão cruzada entre frentes nem histórico executivo; só Atlas dá a leitura consolidada, mas precisa de onde vêm os dados operacionais de origem. Juntos, formam um controle de ponta a ponta — o dado nasce com rastreabilidade e governança no Stock Savvy (quem pediu, quem aprovou, quando), e chega consolidado, comparável mês a mês e com plano de ação no Atlas. Essa é a base de controle mais robusta possível hoje para o estoque da Mágio: operação rastreada + inteligência executiva, sem depender de planilha solta entre uma ponta e outra.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Stock Savvy — Módulos Recentes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O que cada módulo executa no Stock Savvy e como já se conecta ao Atlas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7729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4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Módulo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Execução no Stock Savvy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Conexão com o Atlas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Produção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Dispersão de Lote (Ficha Técnica x consumo real por OP, com Ações Corretivas rastreadas por responsável/status) e Auditoria de Ficha Técnica (cobertura de cadastro de BOM por produto).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Alimenta o slide de Dispersão de Ficha Técnica do MBR (taxa de furo, materiais crônicos, impacto líquido).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Shelf Life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Mapeamento de Risco por almoxarifado, Ações de Lote (desconto, doação, anúncio — com custo e valor recuperado por ação) e Farol de Shelf, consolidados no Dashboard Shelf Life com ROI operacional e Saving recuperado.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Os mesmos exports HTML (Farol de Shelf, Dashboard Shelf Life) já alimentam os slides de Farol de Shelf-Life e Recuperação de Shelf do MBR.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436C"/>
                          </a:solidFill>
                          <a:latin typeface="Arial"/>
                        </a:defRPr>
                      </a:pPr>
                      <a:r>
                        <a:t>Gestão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Baixas Operacionais com fluxo completo de solicitação (scanner QR/EAN), fila de aprovação com assinatura dupla e histórico, além do Dashboard de Baixas por motivo/setor/grupo.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Já sincronizado ao vivo com o módulo de Baixas Operacionais do Atlas (Mapeamento de Passivos) via rota própria — integração automática, sem exportação manual de arquivo.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950" b="0" i="1">
                <a:solidFill>
                  <a:srgbClr val="4A4A4A"/>
                </a:solidFill>
                <a:latin typeface="Arial"/>
              </a:defRPr>
            </a:pPr>
            <a:r>
              <a:t>Levantamento feito navegando diretamente nas telas do Stock Savvy (workspace Lovable "Stock Savvy") em 20/08/2026 — não é uma descrição de segunda mão.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34436C"/>
                </a:solidFill>
                <a:latin typeface="Arial"/>
              </a:defRPr>
            </a:pPr>
            <a:r>
              <a:rPr sz="2400" dirty="0"/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Ações priorizadas a partir dos pontos de atenção identificados acima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1277295" cy="8732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457200" cy="8732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B1BFE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13550"/>
            <a:ext cx="5486400" cy="3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34436C"/>
                </a:solidFill>
                <a:latin typeface="Arial"/>
              </a:defRPr>
            </a:pPr>
            <a:r>
              <a:t>Painel de Inventário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27920"/>
            <a:ext cx="8534095" cy="41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Investigar SKUs recorrentes.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71455" y="177165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Crítico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28316"/>
            <a:ext cx="11277295" cy="8732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528316"/>
            <a:ext cx="457200" cy="8732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B1BFE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33106"/>
            <a:ext cx="5486400" cy="3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34436C"/>
                </a:solidFill>
                <a:latin typeface="Arial"/>
              </a:defRPr>
            </a:pPr>
            <a:r>
              <a:t>Baixas Operacionais (Pacote)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47476"/>
            <a:ext cx="8534095" cy="41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Investigar causa raiz da concentração antes do próximo fechamento.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71455" y="279120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Atenção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47872"/>
            <a:ext cx="11277295" cy="8732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547872"/>
            <a:ext cx="457200" cy="8732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B1BFE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52662"/>
            <a:ext cx="5486400" cy="3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34436C"/>
                </a:solidFill>
                <a:latin typeface="Arial"/>
              </a:defRPr>
            </a:pPr>
            <a:r>
              <a:t>Shelf 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67032"/>
            <a:ext cx="8534095" cy="41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Priorizar consumo/transferência dos lotes vencidos ou a vencer em 30 dias.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71455" y="381076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Atenção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67428"/>
            <a:ext cx="11277295" cy="8732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567428"/>
            <a:ext cx="457200" cy="8732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B1BFE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72218"/>
            <a:ext cx="5486400" cy="3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34436C"/>
                </a:solidFill>
                <a:latin typeface="Arial"/>
              </a:defRPr>
            </a:pPr>
            <a:r>
              <a:t>Mapeamento de Risco (Obsolescência)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86588"/>
            <a:ext cx="8534095" cy="41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Priorizar ação comercial/promocional nos itens críticos (giro zero) antes que vençam.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71455" y="483031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Crítico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23560"/>
            <a:ext cx="11277295" cy="822960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73328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MENSAGEM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71032"/>
            <a:ext cx="1091153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defRPr sz="1100" b="0" i="0">
                <a:solidFill>
                  <a:srgbClr val="4A4A4A"/>
                </a:solidFill>
                <a:latin typeface="Arial"/>
              </a:defRPr>
            </a:pPr>
            <a:r>
              <a:t>Este relatório é gerado automaticamente pelo Atlas a partir dos mesmos dados que alimentam as telas do dia a dia — qualquer ajuste em um fechamento, baixa ou lote se reflete aqui no próximo mês, sem retrabalho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5923</Words>
  <Application>Microsoft Office PowerPoint</Application>
  <PresentationFormat>Widescreen</PresentationFormat>
  <Paragraphs>1164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Mauricio Alves</cp:lastModifiedBy>
  <cp:revision>2</cp:revision>
  <dcterms:created xsi:type="dcterms:W3CDTF">2013-01-27T09:14:16Z</dcterms:created>
  <dcterms:modified xsi:type="dcterms:W3CDTF">2026-09-03T18:08:03Z</dcterms:modified>
  <cp:category/>
</cp:coreProperties>
</file>