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Concluídas</c:v>
                </c:pt>
              </c:strCache>
            </c:strRef>
          </c:tx>
          <c:spPr>
            <a:solidFill>
              <a:srgbClr val="34436C"/>
            </a:solidFill>
            <a:ln>
              <a:noFill/>
            </a:ln>
          </c:spPr>
          <c:dLbls>
            <c:numFmt formatCode="#,##0" sourceLinked="0"/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Shelf Life</c:v>
                </c:pt>
                <c:pt idx="1">
                  <c:v>Recuperação de Shelf</c:v>
                </c:pt>
                <c:pt idx="2">
                  <c:v>Baixas Operacionais</c:v>
                </c:pt>
                <c:pt idx="3">
                  <c:v>Dispersão de Lote (ações corretivas)</c:v>
                </c:pt>
                <c:pt idx="4">
                  <c:v>Dispersão de Lote (identificadas)</c:v>
                </c:pt>
                <c:pt idx="5">
                  <c:v>Mapeamento de Testes Operacionais</c:v>
                </c:pt>
                <c:pt idx="6">
                  <c:v>Controle de FEFO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32.0</c:v>
                </c:pt>
                <c:pt idx="1">
                  <c:v>32.0</c:v>
                </c:pt>
                <c:pt idx="2">
                  <c:v>206.0</c:v>
                </c:pt>
                <c:pt idx="3">
                  <c:v>0.0</c:v>
                </c:pt>
                <c:pt idx="4">
                  <c:v>0.0</c:v>
                </c:pt>
                <c:pt idx="5">
                  <c:v>3.0</c:v>
                </c:pt>
                <c:pt idx="6">
                  <c:v>64.0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 aberto</c:v>
                </c:pt>
              </c:strCache>
            </c:strRef>
          </c:tx>
          <c:spPr>
            <a:solidFill>
              <a:srgbClr val="F9A825"/>
            </a:solidFill>
            <a:ln>
              <a:noFill/>
            </a:ln>
          </c:spPr>
          <c:dLbls>
            <c:numFmt formatCode="#,##0" sourceLinked="0"/>
            <c:txPr>
              <a:bodyPr/>
              <a:lstStyle/>
              <a:p>
                <a:pPr>
                  <a:defRPr sz="900" b="1">
                    <a:solidFill>
                      <a:srgbClr val="2A2A2A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Shelf Life</c:v>
                </c:pt>
                <c:pt idx="1">
                  <c:v>Recuperação de Shelf</c:v>
                </c:pt>
                <c:pt idx="2">
                  <c:v>Baixas Operacionais</c:v>
                </c:pt>
                <c:pt idx="3">
                  <c:v>Dispersão de Lote (ações corretivas)</c:v>
                </c:pt>
                <c:pt idx="4">
                  <c:v>Dispersão de Lote (identificadas)</c:v>
                </c:pt>
                <c:pt idx="5">
                  <c:v>Mapeamento de Testes Operacionais</c:v>
                </c:pt>
                <c:pt idx="6">
                  <c:v>Controle de FEFO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1.0</c:v>
                </c:pt>
                <c:pt idx="1">
                  <c:v>1.0</c:v>
                </c:pt>
                <c:pt idx="2">
                  <c:v>0.0</c:v>
                </c:pt>
                <c:pt idx="3">
                  <c:v>0.0</c:v>
                </c:pt>
                <c:pt idx="4">
                  <c:v>21.0</c:v>
                </c:pt>
                <c:pt idx="5">
                  <c:v>0.0</c:v>
                </c:pt>
                <c:pt idx="6">
                  <c:v>1.0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>
                  <a:solidFill>
                    <a:srgbClr val="4A4A4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2E4E8"/>
            </a:solidFill>
          </a:ln>
        </c:spPr>
        <c:txPr>
          <a:bodyPr/>
          <a:lstStyle/>
          <a:p>
            <a:pPr>
              <a:defRPr sz="1000">
                <a:solidFill>
                  <a:srgbClr val="4A4A4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2E4E8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4A4A4A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E7F84"/>
                </a:solidFill>
                <a:latin typeface="Arial"/>
              </a:defRPr>
            </a:pPr>
            <a:r>
              <a:t>RELATÓRIO EXECUTIVO · MÁGIO CHOCOLATES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869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400" b="1" i="0">
                <a:solidFill>
                  <a:srgbClr val="34436C"/>
                </a:solidFill>
                <a:latin typeface="Arial"/>
              </a:defRPr>
            </a:pPr>
            <a:r>
              <a:t>Fechamento Stock Savvy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869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4A4A4A"/>
                </a:solidFill>
                <a:latin typeface="Arial"/>
              </a:defRPr>
            </a:pPr>
            <a:r>
              <a:t>Mapeamento por módulo — concluídas x em aberto e status por frente monitorada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2926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100" b="1" i="0">
                <a:solidFill>
                  <a:srgbClr val="4E7F84"/>
                </a:solidFill>
                <a:latin typeface="Arial"/>
              </a:defRPr>
            </a:pPr>
            <a:r>
              <a:t>AGOSTO/2026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39935" y="64739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4A4A4A"/>
                </a:solidFill>
                <a:latin typeface="Arial"/>
              </a:defRPr>
            </a:pPr>
            <a:r>
              <a:t>02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417320"/>
          <a:ext cx="11277295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023359"/>
            <a:ext cx="1127729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34436C"/>
                </a:solidFill>
                <a:latin typeface="Arial"/>
              </a:defRPr>
            </a:pPr>
            <a:r>
              <a:t>STATUS POR MÓDULO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4297679"/>
          <a:ext cx="11277293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9936"/>
                <a:gridCol w="1445807"/>
                <a:gridCol w="1445807"/>
                <a:gridCol w="1445807"/>
                <a:gridCol w="1879549"/>
                <a:gridCol w="1590387"/>
              </a:tblGrid>
              <a:tr h="257175"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Módulo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Criadas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Concluídas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Em aberto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Valor / Qtd.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</a:tr>
              <a:tr h="257175"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Baixas Operacionais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206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206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R$ 4.520,23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Sob controle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Controle de FEFO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65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64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1 quebras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Sob controle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</a:tr>
              <a:tr h="257175"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Shelf Life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R$ 2.514,43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Sob controle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Recuperação de Shelf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R$ 938,26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Sob controle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</a:tr>
              <a:tr h="257175"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Dispersão de Lote (identificadas)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R$ 10.857,55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F9A825"/>
                          </a:solidFill>
                          <a:latin typeface="Arial"/>
                        </a:defRPr>
                      </a:pPr>
                      <a:r>
                        <a:t>Atenção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Mapeamento de Testes Operacionais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9,58 un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Sob controle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</a:tr>
              <a:tr h="257175"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Dispersão de Lote (ações corretivas)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R$ 17.547,72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Sem movimento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6446520"/>
            <a:ext cx="1127729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1">
                <a:solidFill>
                  <a:srgbClr val="4A4A4A"/>
                </a:solidFill>
                <a:latin typeface="Arial"/>
              </a:defRPr>
            </a:pPr>
            <a:r>
              <a:t>Fonte: fechamento mensal exportado pelo Stock Savvy — período do export: 01/08 a 31/08/2026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E7F84"/>
                </a:solidFill>
                <a:latin typeface="Arial"/>
              </a:defRPr>
            </a:pPr>
            <a:r>
              <a:t>RELATÓRIO EXECUTIVO · MÁGIO CHOCOLATES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869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400" b="1" i="0">
                <a:solidFill>
                  <a:srgbClr val="34436C"/>
                </a:solidFill>
                <a:latin typeface="Arial"/>
              </a:defRPr>
            </a:pPr>
            <a:r>
              <a:t>Fechamento Stock Savvy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869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4A4A4A"/>
                </a:solidFill>
                <a:latin typeface="Arial"/>
              </a:defRPr>
            </a:pPr>
            <a:r>
              <a:t>Panorama do período — fechamento mensal exportado pelo Stock Savvy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2926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100" b="1" i="0">
                <a:solidFill>
                  <a:srgbClr val="4E7F84"/>
                </a:solidFill>
                <a:latin typeface="Arial"/>
              </a:defRPr>
            </a:pPr>
            <a:r>
              <a:t>AGOSTO/2026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39935" y="64739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4A4A4A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1490472"/>
            <a:ext cx="2375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34436C"/>
                </a:solidFill>
                <a:latin typeface="Arial"/>
              </a:defRPr>
            </a:pPr>
            <a:r>
              <a:t>361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767535"/>
            <a:ext cx="2375839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AÇÕES CRIADAS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26815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3119" y="1490472"/>
            <a:ext cx="2375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2E7D32"/>
                </a:solidFill>
                <a:latin typeface="Arial"/>
              </a:defRPr>
            </a:pPr>
            <a:r>
              <a:t>337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3119" y="1767535"/>
            <a:ext cx="2375839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CONCLUÍDAS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6431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2735" y="1490472"/>
            <a:ext cx="2375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34436C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2735" y="1767535"/>
            <a:ext cx="2375839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EM ABERTO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66047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12351" y="1490472"/>
            <a:ext cx="2375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2E7D32"/>
                </a:solidFill>
                <a:latin typeface="Arial"/>
              </a:defRPr>
            </a:pPr>
            <a:r>
              <a:t>98,46%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2351" y="1767535"/>
            <a:ext cx="2375839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ADERÊNCIA FEFO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267712"/>
            <a:ext cx="11277295" cy="1019982"/>
          </a:xfrm>
          <a:prstGeom prst="roundRect">
            <a:avLst>
              <a:gd name="adj" fmla="val 10000"/>
            </a:avLst>
          </a:prstGeom>
          <a:solidFill>
            <a:srgbClr val="E4E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377440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F9A825"/>
                </a:solidFill>
                <a:latin typeface="Arial"/>
              </a:defRPr>
            </a:pPr>
            <a:r>
              <a:t>PONTO DE ATENÇÃO DO MÊS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615184"/>
            <a:ext cx="10911535" cy="5810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defRPr sz="1200" b="0" i="0">
                <a:solidFill>
                  <a:srgbClr val="4A4A4A"/>
                </a:solidFill>
                <a:latin typeface="Arial"/>
              </a:defRPr>
            </a:pPr>
            <a:r>
              <a:t>Dispersão de Lote (identificadas) concentra o maior risco em aberto do período: 21 ações criadas, apenas 0 concluídas (21 em aberto) e R$ 10.857,55 associados.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562014"/>
            <a:ext cx="1127729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34436C"/>
                </a:solidFill>
                <a:latin typeface="Arial"/>
              </a:defRPr>
            </a:pPr>
            <a:r>
              <a:t>RESULTADO FINANCEIRO — SHELF LIFE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818046"/>
            <a:ext cx="1127729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50" b="0" i="1">
                <a:solidFill>
                  <a:srgbClr val="4A4A4A"/>
                </a:solidFill>
                <a:latin typeface="Arial"/>
              </a:defRPr>
            </a:pPr>
            <a:r>
              <a:t>Perda estimada x perda real x valor recuperado x saving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055790"/>
            <a:ext cx="2668447" cy="6217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4128942"/>
            <a:ext cx="2375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C62828"/>
                </a:solidFill>
                <a:latin typeface="Arial"/>
              </a:defRPr>
            </a:pPr>
            <a:r>
              <a:t>R$ 2.645,08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" y="4384974"/>
            <a:ext cx="2375839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PERDA ESTIMADA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" y="4531278"/>
            <a:ext cx="2375839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50" b="0" i="0">
                <a:solidFill>
                  <a:srgbClr val="4A4A4A"/>
                </a:solidFill>
                <a:latin typeface="Arial"/>
              </a:defRPr>
            </a:pPr>
            <a:r>
              <a:t>Custo de todas as ações…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26815" y="4055790"/>
            <a:ext cx="2668447" cy="6217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3119" y="4128942"/>
            <a:ext cx="2375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C62828"/>
                </a:solidFill>
                <a:latin typeface="Arial"/>
              </a:defRPr>
            </a:pPr>
            <a:r>
              <a:t>R$ 1.163,33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3119" y="4384974"/>
            <a:ext cx="2375839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PERDA REAL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3119" y="4531278"/>
            <a:ext cx="2375839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50" b="0" i="0">
                <a:solidFill>
                  <a:srgbClr val="4A4A4A"/>
                </a:solidFill>
                <a:latin typeface="Arial"/>
              </a:defRPr>
            </a:pPr>
            <a:r>
              <a:t>Baixas aprovadas por…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6431" y="4055790"/>
            <a:ext cx="2668447" cy="6217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42735" y="4128942"/>
            <a:ext cx="2375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2E7D32"/>
                </a:solidFill>
                <a:latin typeface="Arial"/>
              </a:defRPr>
            </a:pPr>
            <a:r>
              <a:t>R$ 2.538,26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2735" y="4384974"/>
            <a:ext cx="2375839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VALOR RECUPERADO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42735" y="4531278"/>
            <a:ext cx="2375839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50" b="0" i="0">
                <a:solidFill>
                  <a:srgbClr val="4A4A4A"/>
                </a:solidFill>
                <a:latin typeface="Arial"/>
              </a:defRPr>
            </a:pPr>
            <a:r>
              <a:t>Resultado das ações concluídas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66047" y="4055790"/>
            <a:ext cx="2668447" cy="6217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12351" y="4128942"/>
            <a:ext cx="2375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2E7D32"/>
                </a:solidFill>
                <a:latin typeface="Arial"/>
              </a:defRPr>
            </a:pPr>
            <a:r>
              <a:t>R$ 23,83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12351" y="4384974"/>
            <a:ext cx="2375839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SAVING RECUPERADO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12351" y="4531278"/>
            <a:ext cx="2375839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50" b="0" i="0">
                <a:solidFill>
                  <a:srgbClr val="4A4A4A"/>
                </a:solidFill>
                <a:latin typeface="Arial"/>
              </a:defRPr>
            </a:pPr>
            <a:r>
              <a:t>Lucro real: recuperado − custo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35508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50" b="0" i="1">
                <a:solidFill>
                  <a:srgbClr val="4A4A4A"/>
                </a:solidFill>
                <a:latin typeface="Arial"/>
              </a:defRPr>
            </a:pPr>
            <a:r>
              <a:t>Fonte: fechamento mensal exportado pelo Stock Savvy — período do export: 01/08 a 31/08/2026 · enviado em 10/09/2026 14:32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E7F84"/>
                </a:solidFill>
                <a:latin typeface="Arial"/>
              </a:defRPr>
            </a:pPr>
            <a:r>
              <a:t>RELATÓRIO EXECUTIVO · MÁGIO CHOCOLATES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869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400" b="1" i="0">
                <a:solidFill>
                  <a:srgbClr val="34436C"/>
                </a:solidFill>
                <a:latin typeface="Arial"/>
              </a:defRPr>
            </a:pPr>
            <a:r>
              <a:t>Fechamento Stock Savvy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869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4A4A4A"/>
                </a:solidFill>
                <a:latin typeface="Arial"/>
              </a:defRPr>
            </a:pPr>
            <a:r>
              <a:t>Principais ações do período — as 5 maiores de cada frente monitorada pelo Stock Savvy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2926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100" b="1" i="0">
                <a:solidFill>
                  <a:srgbClr val="4E7F84"/>
                </a:solidFill>
                <a:latin typeface="Arial"/>
              </a:defRPr>
            </a:pPr>
            <a:r>
              <a:t>AGOSTO/2026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39935" y="64739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4A4A4A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410047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34436C"/>
                </a:solidFill>
                <a:latin typeface="Arial"/>
              </a:defRPr>
            </a:pPr>
            <a:r>
              <a:t>BAIXAS OPERACIONAIS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737360"/>
          <a:ext cx="5410046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558"/>
                <a:gridCol w="2361528"/>
                <a:gridCol w="1803349"/>
                <a:gridCol w="944611"/>
              </a:tblGrid>
              <a:tr h="310896"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Ação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Detalhe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Valor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Café organico em graos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Uso e Consumo · Maurí…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R$ 598,88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Maracujá Liofilizado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Vencimento · Thiago D…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R$ 253,83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Caixa de Bombons G (30 bombons)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Vencimento · Sheila C…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R$ 181,58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amendoas de cupuaçu cru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Sensorial/Inovações ·…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R$ 179,40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MANTEIGA DE CACAU desodorizada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Uso e Consumo · JOSUÉ…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R$ 158,75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4447" y="1463040"/>
            <a:ext cx="5410047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34436C"/>
                </a:solidFill>
                <a:latin typeface="Arial"/>
              </a:defRPr>
            </a:pPr>
            <a:r>
              <a:t>DISPERSÃO DE LOTE (IDENTIFICADAS)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4447" y="1737360"/>
          <a:ext cx="5410046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558"/>
                <a:gridCol w="2361528"/>
                <a:gridCol w="1803349"/>
                <a:gridCol w="944611"/>
              </a:tblGrid>
              <a:tr h="310896"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Ação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Detalhe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Valor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Liquor de Cacau - Sakaguchi (PA)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perda · 05/08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R$ 4.452,80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MANTEIGA DE CACAU desodorizada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perda · 17/08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R$ 793,76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MANTEIGA DE CACAU desodorizada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perda · 24/08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R$ 603,26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Massa de trufa Intenso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perda · 24/08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R$ 453,90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Massa de Chocolate - Chocolate…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economia · 27/08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R$ 425,17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6446520"/>
            <a:ext cx="1127729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1">
                <a:solidFill>
                  <a:srgbClr val="4A4A4A"/>
                </a:solidFill>
                <a:latin typeface="Arial"/>
              </a:defRPr>
            </a:pPr>
            <a:r>
              <a:t>Fonte: fechamento mensal exportado pelo Stock Savvy — 5 maiores ações por categoria, já ordenadas por impacto no próprio export · período: 01/08 a 31/08/2026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E7F84"/>
                </a:solidFill>
                <a:latin typeface="Arial"/>
              </a:defRPr>
            </a:pPr>
            <a:r>
              <a:t>RELATÓRIO EXECUTIVO · MÁGIO CHOCOLATES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869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400" b="1" i="0">
                <a:solidFill>
                  <a:srgbClr val="34436C"/>
                </a:solidFill>
                <a:latin typeface="Arial"/>
              </a:defRPr>
            </a:pPr>
            <a:r>
              <a:t>Fechamento Stock Savvy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869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4A4A4A"/>
                </a:solidFill>
                <a:latin typeface="Arial"/>
              </a:defRPr>
            </a:pPr>
            <a:r>
              <a:t>Principais ações do período — as 5 maiores de cada frente monitorada pelo Stock Savvy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2926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100" b="1" i="0">
                <a:solidFill>
                  <a:srgbClr val="4E7F84"/>
                </a:solidFill>
                <a:latin typeface="Arial"/>
              </a:defRPr>
            </a:pPr>
            <a:r>
              <a:t>AGOSTO/2026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39935" y="64739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4A4A4A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410047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34436C"/>
                </a:solidFill>
                <a:latin typeface="Arial"/>
              </a:defRPr>
            </a:pPr>
            <a:r>
              <a:t>AÇÕES DE LOTE (SHELF LIFE)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737360"/>
          <a:ext cx="5410046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558"/>
                <a:gridCol w="2361528"/>
                <a:gridCol w="1803349"/>
                <a:gridCol w="944611"/>
              </a:tblGrid>
              <a:tr h="310896"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Ação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Detalhe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Valor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Amêndoa de Cacau Seca Aprovada…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Transformação de Prod…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R$ 244,63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MANTEIGA DE CACAU desodorizada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Forçar Produção · ana…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R$ 200,03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Amêndoa de Cacau Seca Aprovada-…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Outro · ana julia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R$ 169,40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Barra Acará-Açu Granel 60g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Degustação · —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R$ 54,23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Gema de ovo pasteurizada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Forçar Produção · Thi…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R$ 39,47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4447" y="1463040"/>
            <a:ext cx="5410047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34436C"/>
                </a:solidFill>
                <a:latin typeface="Arial"/>
              </a:defRPr>
            </a:pPr>
            <a:r>
              <a:t>MAPEAMENTO DE TESTES OPERACIONAIS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4447" y="1737360"/>
          <a:ext cx="5410046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558"/>
                <a:gridCol w="2361528"/>
                <a:gridCol w="1803349"/>
                <a:gridCol w="944611"/>
              </a:tblGrid>
              <a:tr h="310896"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Ação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Detalhe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Valor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Farinha Criscito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2 KG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R$ 157,80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Camu Camu liofilizado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0,45 KG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R$ 118,11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Massa de Chocolate Branco - tes…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1,57 KG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R$ 104,90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Cupuaçu Cristalizado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0,84 KG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R$ 103,90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Café Liofilizado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0,3 KG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R$ 74,10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6446520"/>
            <a:ext cx="1127729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1">
                <a:solidFill>
                  <a:srgbClr val="4A4A4A"/>
                </a:solidFill>
                <a:latin typeface="Arial"/>
              </a:defRPr>
            </a:pPr>
            <a:r>
              <a:t>Fonte: fechamento mensal exportado pelo Stock Savvy — 5 maiores ações por categoria, já ordenadas por impacto no próprio export · período: 01/08 a 31/08/2026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E7F84"/>
                </a:solidFill>
                <a:latin typeface="Arial"/>
              </a:defRPr>
            </a:pPr>
            <a:r>
              <a:t>RELATÓRIO EXECUTIVO · MÁGIO CHOCOLATES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869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400" b="1" i="0">
                <a:solidFill>
                  <a:srgbClr val="34436C"/>
                </a:solidFill>
                <a:latin typeface="Arial"/>
              </a:defRPr>
            </a:pPr>
            <a:r>
              <a:t>Fechamento Stock Savvy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869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4A4A4A"/>
                </a:solidFill>
                <a:latin typeface="Arial"/>
              </a:defRPr>
            </a:pPr>
            <a:r>
              <a:t>Principais ações do período — as 5 maiores de cada frente monitorada pelo Stock Savvy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2926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100" b="1" i="0">
                <a:solidFill>
                  <a:srgbClr val="4E7F84"/>
                </a:solidFill>
                <a:latin typeface="Arial"/>
              </a:defRPr>
            </a:pPr>
            <a:r>
              <a:t>AGOSTO/2026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39935" y="64739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4A4A4A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27729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34436C"/>
                </a:solidFill>
                <a:latin typeface="Arial"/>
              </a:defRPr>
            </a:pPr>
            <a:r>
              <a:t>CONTROLE DE FEFO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737360"/>
          <a:ext cx="11277293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6516"/>
                <a:gridCol w="4922628"/>
                <a:gridCol w="3759098"/>
                <a:gridCol w="1969051"/>
              </a:tblGrid>
              <a:tr h="310896"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Ação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Detalhe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Valor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Biscoito Cast. Pará Chocolate 6…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Mov. 0500104002000050…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4 un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446520"/>
            <a:ext cx="1127729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1">
                <a:solidFill>
                  <a:srgbClr val="4A4A4A"/>
                </a:solidFill>
                <a:latin typeface="Arial"/>
              </a:defRPr>
            </a:pPr>
            <a:r>
              <a:t>Fonte: fechamento mensal exportado pelo Stock Savvy — 5 maiores ações por categoria, já ordenadas por impacto no próprio export · período: 01/08 a 31/08/2026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