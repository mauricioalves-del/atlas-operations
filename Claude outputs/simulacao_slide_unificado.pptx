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Cortesia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16.5</c:v>
                </c:pt>
                <c:pt idx="1">
                  <c:v>55.9</c:v>
                </c:pt>
                <c:pt idx="2">
                  <c:v>308.23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Degustação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320.15</c:v>
                </c:pt>
                <c:pt idx="1">
                  <c:v>625.46</c:v>
                </c:pt>
                <c:pt idx="2">
                  <c:v>1120.31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Sensorial/Inovações</c:v>
                </c:pt>
              </c:strCache>
            </c:strRef>
          </c:tx>
          <c:spPr>
            <a:solidFill>
              <a:srgbClr val="BA68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44</c:v>
                </c:pt>
                <c:pt idx="1">
                  <c:v>859.86</c:v>
                </c:pt>
                <c:pt idx="2">
                  <c:v>64.21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Uso e Consumo</c:v>
                </c:pt>
              </c:strCache>
            </c:strRef>
          </c:tx>
          <c:spPr>
            <a:solidFill>
              <a:srgbClr val="FFB7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2365.66</c:v>
                </c:pt>
                <c:pt idx="1">
                  <c:v>1229.37</c:v>
                </c:pt>
                <c:pt idx="2">
                  <c:v>1661.6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 do Mês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numFmt formatCode="&quot;R$&quot; 0" sourceLinked="0"/>
            <c:txPr>
              <a:bodyPr/>
              <a:lstStyle/>
              <a:p>
                <a:pPr>
                  <a:defRPr b="1" i="0" strike="noStrike" sz="700" u="none">
                    <a:solidFill>
                      <a:srgbClr val="34436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Jul/26</c:v>
                  </c:pt>
                  <c:pt idx="1">
                    <c:v>Ago/26</c:v>
                  </c:pt>
                  <c:pt idx="2">
                    <c:v>Set/26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2746.31</c:v>
                </c:pt>
                <c:pt idx="1">
                  <c:v>2770.59</c:v>
                </c:pt>
                <c:pt idx="2">
                  <c:v>3154.35</c:v>
                </c:pt>
              </c:numCache>
            </c:numRef>
          </c:val>
          <c:smooth val="0"/>
        </c:ser>
        <c:dLbls>
          <c:numFmt formatCode="&quot;R$&quot; 0" sourceLinked="0"/>
          <c:txPr>
            <a:bodyPr/>
            <a:lstStyle/>
            <a:p>
              <a:pPr>
                <a:defRPr b="1" i="0" strike="noStrike" sz="700" u="none">
                  <a:solidFill>
                    <a:srgbClr val="34436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22.133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&quot;R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&quot;R$&quot;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1C7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A68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74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Cortesia</c:v>
                  </c:pt>
                  <c:pt idx="1">
                    <c:v>Degustação</c:v>
                  </c:pt>
                  <c:pt idx="2">
                    <c:v>Sensorial/Inovações</c:v>
                  </c:pt>
                  <c:pt idx="3">
                    <c:v>Uso e Consumo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380.63</c:v>
                </c:pt>
                <c:pt idx="1">
                  <c:v>2065.92</c:v>
                </c:pt>
                <c:pt idx="2">
                  <c:v>968.08</c:v>
                </c:pt>
                <c:pt idx="3">
                  <c:v>5256.64</c:v>
                </c:pt>
              </c:numCache>
            </c:numRef>
          </c:val>
        </c:ser>
        <c:dLbls>
          <c:numFmt formatCode="&quot;R$&quot;#,##0" sourceLinked="0"/>
          <c:txPr>
            <a:bodyPr/>
            <a:lstStyle/>
            <a:p>
              <a:pPr>
                <a:defRPr b="0" i="0" strike="noStrike" sz="75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Donut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C3F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1C78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BA68C8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B74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0629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&quot;R$&quot;#,##0" sourceLinked="0"/>
              <c:spPr/>
              <c:txPr>
                <a:bodyPr/>
                <a:lstStyle/>
                <a:p>
                  <a:pPr>
                    <a:defRPr sz="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&quot;R$&quot;#,##0" sourceLinked="0"/>
              <c:spPr/>
              <c:txPr>
                <a:bodyPr/>
                <a:lstStyle/>
                <a:p>
                  <a:pPr>
                    <a:defRPr sz="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&quot;R$&quot;#,##0" sourceLinked="0"/>
              <c:spPr/>
              <c:txPr>
                <a:bodyPr/>
                <a:lstStyle/>
                <a:p>
                  <a:pPr>
                    <a:defRPr sz="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&quot;R$&quot;#,##0" sourceLinked="0"/>
              <c:spPr/>
              <c:txPr>
                <a:bodyPr/>
                <a:lstStyle/>
                <a:p>
                  <a:pPr>
                    <a:defRPr sz="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&quot;R$&quot;#,##0" sourceLinked="0"/>
              <c:spPr/>
              <c:txPr>
                <a:bodyPr/>
                <a:lstStyle/>
                <a:p>
                  <a:pPr>
                    <a:defRPr sz="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&quot;R$&quot;#,##0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Comercial</c:v>
                </c:pt>
                <c:pt idx="1">
                  <c:v>Loja Itaim</c:v>
                </c:pt>
                <c:pt idx="2">
                  <c:v>Loja Pátio Paulista</c:v>
                </c:pt>
                <c:pt idx="3">
                  <c:v>Exportação</c:v>
                </c:pt>
                <c:pt idx="4">
                  <c:v>Diretoria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113.21</c:v>
                </c:pt>
                <c:pt idx="1">
                  <c:v>85.87</c:v>
                </c:pt>
                <c:pt idx="2">
                  <c:v>63.39</c:v>
                </c:pt>
                <c:pt idx="3">
                  <c:v>61.12</c:v>
                </c:pt>
                <c:pt idx="4">
                  <c:v>57.03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5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· MÁGIO CHOCOLATES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de Baixas — Investimento Operacional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Cortesia, Degustação, Sensorial/Inovações e Uso e Consumo — fonte oficial do indicador (jul-set/2026)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39935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JUL-SET/2026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39935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60704"/>
            <a:ext cx="214573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155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Investido no Período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19262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R$ 8.671,27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15727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436 lançamentos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0091" y="1060704"/>
            <a:ext cx="214573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9819" y="11155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49819" y="1280160"/>
            <a:ext cx="19262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R$ 380,63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49819" y="15727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lançamentos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2982" y="1060704"/>
            <a:ext cx="214573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2710" y="11155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32710" y="1280160"/>
            <a:ext cx="19262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R$ 2.065,92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32710" y="15727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 lançamentos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05873" y="1060704"/>
            <a:ext cx="214573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15601" y="11155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Sensorial/Inovações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15601" y="1280160"/>
            <a:ext cx="19262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R$ 968,08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15601" y="15727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lançamentos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88764" y="1060704"/>
            <a:ext cx="2145731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8492" y="11155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 Consumo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98492" y="1280160"/>
            <a:ext cx="19262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R$ 5.256,64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98492" y="1572768"/>
            <a:ext cx="1926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lançamentos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1938528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 MENSAL POR MOTIVO</a:t>
            </a:r>
            <a:endParaRPr lang="en-US" sz="9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2121408"/>
          <a:ext cx="11277295" cy="1024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3346704"/>
            <a:ext cx="3637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POR MOTIVO</a:t>
            </a:r>
            <a:endParaRPr lang="en-US" sz="95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457200" y="3529584"/>
          <a:ext cx="3637178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4277258" y="3346704"/>
            <a:ext cx="3637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CORTESIA — ÁREA QUE SOLICITOU</a:t>
            </a:r>
            <a:endParaRPr lang="en-US" sz="95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4277258" y="3529584"/>
          <a:ext cx="3637178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 28"/>
          <p:cNvSpPr/>
          <p:nvPr/>
        </p:nvSpPr>
        <p:spPr>
          <a:xfrm>
            <a:off x="8097317" y="3346704"/>
            <a:ext cx="3637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 — OPERAÇÃO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8206432" y="3566160"/>
            <a:ext cx="3418948" cy="19751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5" name="Text 30"/>
          <p:cNvSpPr/>
          <p:nvPr/>
        </p:nvSpPr>
        <p:spPr>
          <a:xfrm>
            <a:off x="8206432" y="3566160"/>
            <a:ext cx="341894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R$ 681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8541131" y="3809390"/>
            <a:ext cx="2749551" cy="19751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37" name="Text 32"/>
          <p:cNvSpPr/>
          <p:nvPr/>
        </p:nvSpPr>
        <p:spPr>
          <a:xfrm>
            <a:off x="8541131" y="3809390"/>
            <a:ext cx="2749551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R$ 497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8686803" y="4052621"/>
            <a:ext cx="2458207" cy="197510"/>
          </a:xfrm>
          <a:prstGeom prst="rect">
            <a:avLst/>
          </a:prstGeom>
          <a:solidFill>
            <a:srgbClr val="BA68C8"/>
          </a:solidFill>
          <a:ln/>
        </p:spPr>
      </p:sp>
      <p:sp>
        <p:nvSpPr>
          <p:cNvPr id="39" name="Text 34"/>
          <p:cNvSpPr/>
          <p:nvPr/>
        </p:nvSpPr>
        <p:spPr>
          <a:xfrm>
            <a:off x="8686803" y="4052621"/>
            <a:ext cx="2458207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R$ 417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8977239" y="4295851"/>
            <a:ext cx="1877334" cy="19751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1" name="Text 36"/>
          <p:cNvSpPr/>
          <p:nvPr/>
        </p:nvSpPr>
        <p:spPr>
          <a:xfrm>
            <a:off x="8977239" y="4295851"/>
            <a:ext cx="187733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R$ 257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9054584" y="4539082"/>
            <a:ext cx="1722643" cy="197510"/>
          </a:xfrm>
          <a:prstGeom prst="rect">
            <a:avLst/>
          </a:prstGeom>
          <a:solidFill>
            <a:srgbClr val="F06292"/>
          </a:solidFill>
          <a:ln/>
        </p:spPr>
      </p:sp>
      <p:sp>
        <p:nvSpPr>
          <p:cNvPr id="43" name="Text 38"/>
          <p:cNvSpPr/>
          <p:nvPr/>
        </p:nvSpPr>
        <p:spPr>
          <a:xfrm>
            <a:off x="9054584" y="4539082"/>
            <a:ext cx="1722643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R$ 214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457200" y="4892040"/>
            <a:ext cx="2716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CORTESIA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74920"/>
          <a:ext cx="2716454" cy="1545336"/>
        </p:xfrm>
        <a:graphic>
          <a:graphicData uri="http://schemas.openxmlformats.org/drawingml/2006/table">
            <a:tbl>
              <a:tblPr/>
              <a:tblGrid>
                <a:gridCol w="706278"/>
                <a:gridCol w="1303898"/>
                <a:gridCol w="706278"/>
              </a:tblGrid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Produto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05004043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Formigueiro Caramelo de Maracujá Cx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R$ 70,56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05004006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MAGIO Povos Vale do Jari 65% 60g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R$ 68,81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0990101001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Amêndoa de Cacau Terceiros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R$ 61,12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 40"/>
          <p:cNvSpPr/>
          <p:nvPr/>
        </p:nvSpPr>
        <p:spPr>
          <a:xfrm>
            <a:off x="3310814" y="4892040"/>
            <a:ext cx="2716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DEGUSTAÇÃO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10814" y="5074920"/>
          <a:ext cx="2716454" cy="1545336"/>
        </p:xfrm>
        <a:graphic>
          <a:graphicData uri="http://schemas.openxmlformats.org/drawingml/2006/table">
            <a:tbl>
              <a:tblPr/>
              <a:tblGrid>
                <a:gridCol w="706278"/>
                <a:gridCol w="1303898"/>
                <a:gridCol w="706278"/>
              </a:tblGrid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Produto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05104081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Barra Recheada Maracujá Granel 80g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R$ 226,35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05104077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Biscoito Puxuri Chocolate - Unitário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R$ 197,23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05104079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Biscoito Puxuri Cupulate - Unitário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R$ 131,95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 41"/>
          <p:cNvSpPr/>
          <p:nvPr/>
        </p:nvSpPr>
        <p:spPr>
          <a:xfrm>
            <a:off x="6164428" y="4892040"/>
            <a:ext cx="2716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SENSORIAL/INOVAÇÕES</a:t>
            </a:r>
            <a:endParaRPr lang="en-US" sz="95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5074920"/>
          <a:ext cx="2716454" cy="1545336"/>
        </p:xfrm>
        <a:graphic>
          <a:graphicData uri="http://schemas.openxmlformats.org/drawingml/2006/table">
            <a:tbl>
              <a:tblPr/>
              <a:tblGrid>
                <a:gridCol w="706278"/>
                <a:gridCol w="1303898"/>
                <a:gridCol w="706278"/>
              </a:tblGrid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Produto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0190213129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Caixa SSAL Redonda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R$ 207,00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0440101001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Amêndoas de Cupuaçu Cru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R$ 179,40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0190213127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Caixa SSAL Tripla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R$ 152,00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2"/>
          <p:cNvSpPr/>
          <p:nvPr/>
        </p:nvSpPr>
        <p:spPr>
          <a:xfrm>
            <a:off x="9018041" y="4892040"/>
            <a:ext cx="2716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USO E CONSUMO</a:t>
            </a:r>
            <a:endParaRPr lang="en-US" sz="95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18041" y="5074920"/>
          <a:ext cx="2716454" cy="1545336"/>
        </p:xfrm>
        <a:graphic>
          <a:graphicData uri="http://schemas.openxmlformats.org/drawingml/2006/table">
            <a:tbl>
              <a:tblPr/>
              <a:tblGrid>
                <a:gridCol w="706278"/>
                <a:gridCol w="1303898"/>
                <a:gridCol w="706278"/>
              </a:tblGrid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Produto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Valor</a:t>
                      </a:r>
                      <a:endParaRPr lang="en-US" sz="70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436C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9990111048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Café Orgânico em Grãos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R$ 1.305,88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0190213106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Sacolas de Papel Tam. M (32A x 23L)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R$ 728,48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0190213105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4A4A4A"/>
                          </a:solidFill>
                        </a:rPr>
                        <a:t>Sacolas de Papel Tam. P (24A x 16L)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80" b="1" dirty="0">
                          <a:solidFill>
                            <a:srgbClr val="4A4A4A"/>
                          </a:solidFill>
                        </a:rPr>
                        <a:t>R$ 456,21</a:t>
                      </a:r>
                      <a:endParaRPr lang="en-US" sz="680" dirty="0"/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 43"/>
          <p:cNvSpPr/>
          <p:nvPr/>
        </p:nvSpPr>
        <p:spPr>
          <a:xfrm>
            <a:off x="457200" y="6656832"/>
            <a:ext cx="11277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LAYOUT — proposta visual para validação, ainda não implementada no gerador do MBR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2026-10-06T15:46:39Z</dcterms:created>
  <dcterms:modified xsi:type="dcterms:W3CDTF">2026-10-06T15:46:39Z</dcterms:modified>
</cp:coreProperties>
</file>